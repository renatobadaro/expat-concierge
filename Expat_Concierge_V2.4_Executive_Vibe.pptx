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0" y="-457200"/>
            <a:ext cx="5029200" cy="4114800"/>
          </a:xfrm>
          <a:prstGeom prst="rect">
            <a:avLst/>
          </a:prstGeom>
          <a:solidFill>
            <a:srgbClr val="130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0" y="457200"/>
            <a:ext cx="3657600" cy="2743200"/>
          </a:xfrm>
          <a:prstGeom prst="rect">
            <a:avLst/>
          </a:prstGeom>
          <a:solidFill>
            <a:srgbClr val="1A0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114800"/>
            <a:ext cx="4572000" cy="3200400"/>
          </a:xfrm>
          <a:prstGeom prst="rect">
            <a:avLst/>
          </a:prstGeom>
          <a:solidFill>
            <a:srgbClr val="00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-274320" y="5029200"/>
            <a:ext cx="3657600" cy="2286000"/>
          </a:xfrm>
          <a:prstGeom prst="rect">
            <a:avLst/>
          </a:prstGeom>
          <a:solidFill>
            <a:srgbClr val="002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347472"/>
            <a:ext cx="2560320" cy="438912"/>
          </a:xfrm>
          <a:prstGeom prst="rect">
            <a:avLst/>
          </a:prstGeom>
          <a:solidFill>
            <a:srgbClr val="1A0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6616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78BFA"/>
                </a:solidFill>
                <a:latin typeface="Calibri"/>
              </a:rPr>
              <a:t>EXPAT CONCIERGE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365760"/>
            <a:ext cx="54864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27248" y="374904"/>
            <a:ext cx="512064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V2.4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2344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6B6D4"/>
                </a:solidFill>
                <a:latin typeface="Calibri"/>
              </a:rPr>
              <a:t>GLOBAL MOBILITY  ·  AI-POWERED  · 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1691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Calibri"/>
              </a:rPr>
              <a:t>The Intelligent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514600"/>
            <a:ext cx="8229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A78BFA"/>
                </a:solidFill>
                <a:latin typeface="Calibri"/>
              </a:rPr>
              <a:t>Expat Concierge.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611880"/>
            <a:ext cx="6858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0" i="0">
                <a:solidFill>
                  <a:srgbClr val="94A3B8"/>
                </a:solidFill>
                <a:latin typeface="Calibri"/>
              </a:rPr>
              <a:t>AI-driven guidance for every step of the global assignment journey.
Policy-scoped. Profile-aware. Always available.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892040"/>
            <a:ext cx="2377440" cy="5029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901184"/>
            <a:ext cx="2377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50" b="1" i="0">
                <a:solidFill>
                  <a:srgbClr val="FFFFFF"/>
                </a:solidFill>
                <a:latin typeface="Calibri"/>
              </a:rPr>
              <a:t>▶  Request a Demo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321040" y="822960"/>
            <a:ext cx="3611880" cy="123444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321040" y="822960"/>
            <a:ext cx="54864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93268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🤖  AI 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138988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Policy-scoped answers instantly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240280"/>
            <a:ext cx="3611880" cy="123444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321040" y="2240280"/>
            <a:ext cx="54864" cy="123444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23500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📋  Action Log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85632" y="280720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34 tracked tasks per expat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3657600"/>
            <a:ext cx="3611880" cy="123444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3657600"/>
            <a:ext cx="54864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85632" y="37673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👤  Multi-Profile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85632" y="422452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LTA · STA · IA · Commuter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5074920"/>
            <a:ext cx="3611880" cy="123444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321040" y="5074920"/>
            <a:ext cx="54864" cy="12344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5632" y="51846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🔔  Smart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85632" y="5641848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Overdue + due-this-week flags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4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665683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C7A"/>
                </a:solidFill>
                <a:latin typeface="Calibri"/>
              </a:rPr>
              <a:t>EXPAT CONCIERGE  ·  V2.4  ·  CONFIDENTIAL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16459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5C7A"/>
                </a:solidFill>
                <a:latin typeface="Calibri"/>
              </a:rPr>
              <a:t>2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Why Expat Concierge?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The challenge — and how we solve it.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5440680" cy="48463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5440680" cy="457200"/>
          </a:xfrm>
          <a:prstGeom prst="rect">
            <a:avLst/>
          </a:prstGeom>
          <a:solidFill>
            <a:srgbClr val="7F1D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98755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CA5A5"/>
                </a:solidFill>
                <a:latin typeface="Calibri"/>
              </a:rPr>
              <a:t>⚠  Without a Concierge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3619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Expats overwhelmed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874519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Complex policy, multiple vendors, no clear path forward. Stress and errors are common.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6032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54203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HR drowning in Q&amp;A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288036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Hundreds of repetitive emails per assignment. High-cost HR time wasted on basic questions.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56616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54787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Missed deadlines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88620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No central tracking of tasks and owners. Visa applications, tax filings, housing slip through.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572000"/>
            <a:ext cx="45720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5537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Compliance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9204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Expats receive incorrect guidance — out-of-scope benefits, wrong policies, no audit trail.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70448" y="2926080"/>
            <a:ext cx="594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7C3AED"/>
                </a:solidFill>
                <a:latin typeface="Calibr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960120"/>
            <a:ext cx="5376672" cy="48463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92240" y="960120"/>
            <a:ext cx="5376672" cy="4572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29400" y="987552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6EE7B7"/>
                </a:solidFill>
                <a:latin typeface="Calibri"/>
              </a:rPr>
              <a:t>✅  With Expat Concierge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29400" y="1554480"/>
            <a:ext cx="45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12280" y="153619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24/7 AI guidance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1874519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Instant, accurate answers at any hour. Personalised to each expat's profile and assignment type.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2560320"/>
            <a:ext cx="45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12280" y="254203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HR freed to focus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28803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Routine Q&amp;A handled autonomously. HR time redirected to strategic mobility decisions.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29400" y="3566160"/>
            <a:ext cx="45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12280" y="354787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Full task visibility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12280" y="388620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34 action items per expat, with deadlines, owners, and proactive overdue alerts.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29400" y="4572000"/>
            <a:ext cx="45720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12280" y="4553712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Policy enforced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12280" y="489204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Every answer is bounded by assignment type. No out-of-scope guidance. Full audit trail.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4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665683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C7A"/>
                </a:solidFill>
                <a:latin typeface="Calibri"/>
              </a:rPr>
              <a:t>EXPAT CONCIERGE  ·  V2.4  ·  CONFIDENTIAL  ·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16459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5C7A"/>
                </a:solidFill>
                <a:latin typeface="Calibri"/>
              </a:rPr>
              <a:t>3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Core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What the platform delivers.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3611880" cy="23317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361188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45720" cy="2331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143000"/>
            <a:ext cx="475488" cy="47548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2471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16128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AI-Powered Chat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73736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Answers any relocation question in seconds — grounded in company policy, scoped to assignment type (LTA / STA / IA / Commuter) and personalised to the expat's profile.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79392" y="960120"/>
            <a:ext cx="3611880" cy="23317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9392" y="960120"/>
            <a:ext cx="361188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79392" y="960120"/>
            <a:ext cx="45720" cy="2331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62272" y="1143000"/>
            <a:ext cx="475488" cy="47548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112471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1" y="116128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Action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62272" y="173736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34 pre-loaded tasks per assignment with deadlines, completion status, and clear ownership (Expat, GM Team, Vialto, K2, Net Expat). Nothing falls through.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38744" y="960120"/>
            <a:ext cx="3611880" cy="23317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38744" y="960120"/>
            <a:ext cx="36118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38744" y="960120"/>
            <a:ext cx="45720" cy="2331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421624" y="1143000"/>
            <a:ext cx="475488" cy="4754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21624" y="112471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15984" y="116128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Multi-Profile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21624" y="173736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Any number of expat profiles. HR admins can simulate any user, view their full action log, and switch context instantly. One platform, all expats.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566160"/>
            <a:ext cx="3611880" cy="23317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" y="3566160"/>
            <a:ext cx="36118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566160"/>
            <a:ext cx="45720" cy="2331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02920" y="3749040"/>
            <a:ext cx="475488" cy="47548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73075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6732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Proactive Alerts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34340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Tasks due in 7 days surface automatically in the chat header. Overdue tasks are injected into AI context — every answer is action-aware, not just policy-aware.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79392" y="3566160"/>
            <a:ext cx="3611880" cy="23317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79392" y="3566160"/>
            <a:ext cx="3611880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79392" y="3566160"/>
            <a:ext cx="45720" cy="2331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462272" y="3749040"/>
            <a:ext cx="475488" cy="47548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62272" y="373075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56631" y="376732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Policy Enforcement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62272" y="434340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Assignment boundaries are strictly enforced. An LTA expat cannot access STA guidance. Explainable, auditable responses reduce compliance risk.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38744" y="3566160"/>
            <a:ext cx="3611880" cy="23317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38744" y="3566160"/>
            <a:ext cx="3611880" cy="54864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38744" y="3566160"/>
            <a:ext cx="45720" cy="23317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421624" y="3749040"/>
            <a:ext cx="475488" cy="475488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21624" y="3730752"/>
            <a:ext cx="475488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15984" y="3767328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Zero-Infra Demo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21624" y="4343400"/>
            <a:ext cx="3337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Fully standalone HTML — no server, no install. Share as a single file with any stakeholder. Backend uses GitHub Models (GPT-4o) with per-user secure access.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4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665683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C7A"/>
                </a:solidFill>
                <a:latin typeface="Calibri"/>
              </a:rPr>
              <a:t>EXPAT CONCIERGE  ·  V2.4  ·  CONFIDENTIAL  ·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16459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5C7A"/>
                </a:solidFill>
                <a:latin typeface="Calibri"/>
              </a:rPr>
              <a:t>4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The Expat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02920"/>
            <a:ext cx="9144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From first login to assignment close — guided at every step.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59152" y="3291840"/>
            <a:ext cx="338328" cy="45720"/>
          </a:xfrm>
          <a:prstGeom prst="rect">
            <a:avLst/>
          </a:prstGeom>
          <a:solidFill>
            <a:srgbClr val="2E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14400"/>
            <a:ext cx="2084831" cy="41148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914400"/>
            <a:ext cx="2084831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033271" y="1143000"/>
            <a:ext cx="658368" cy="65836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1152144"/>
            <a:ext cx="658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1920240"/>
            <a:ext cx="190195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Profile
Loaded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810511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System reads assignment type, stage, family, host/home countries, move date.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36592" y="3291840"/>
            <a:ext cx="338328" cy="45720"/>
          </a:xfrm>
          <a:prstGeom prst="rect">
            <a:avLst/>
          </a:prstGeom>
          <a:solidFill>
            <a:srgbClr val="2E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97480" y="914400"/>
            <a:ext cx="2084831" cy="41148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80" y="914400"/>
            <a:ext cx="2084831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10712" y="1143000"/>
            <a:ext cx="658368" cy="65836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10712" y="1152144"/>
            <a:ext cx="658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88920" y="1920240"/>
            <a:ext cx="190195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Personalised
Welcome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697480"/>
            <a:ext cx="1810511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Chat opens with suggested questions tailored to the expat's exact situation.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14032" y="3291840"/>
            <a:ext cx="338328" cy="45720"/>
          </a:xfrm>
          <a:prstGeom prst="rect">
            <a:avLst/>
          </a:prstGeom>
          <a:solidFill>
            <a:srgbClr val="2E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74920" y="914400"/>
            <a:ext cx="2084831" cy="41148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74920" y="914400"/>
            <a:ext cx="2084831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88152" y="1143000"/>
            <a:ext cx="658368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88152" y="1152144"/>
            <a:ext cx="658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66359" y="1920240"/>
            <a:ext cx="190195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Instant
AI Answers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2697480"/>
            <a:ext cx="1810511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GPT-4o responds with policy-scoped guidance — accurate, personalised, immediate.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491472" y="3291840"/>
            <a:ext cx="338328" cy="45720"/>
          </a:xfrm>
          <a:prstGeom prst="rect">
            <a:avLst/>
          </a:prstGeom>
          <a:solidFill>
            <a:srgbClr val="2E4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52360" y="914400"/>
            <a:ext cx="2084831" cy="41148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52360" y="914400"/>
            <a:ext cx="2084831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65592" y="1143000"/>
            <a:ext cx="658368" cy="6583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65592" y="1152144"/>
            <a:ext cx="658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43800" y="1920240"/>
            <a:ext cx="190195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Actions
Tracked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2697480"/>
            <a:ext cx="1810511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Every task visible with owner, deadline &amp; status. Overdue items flagged in chat.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29800" y="914400"/>
            <a:ext cx="2084831" cy="411480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829800" y="914400"/>
            <a:ext cx="2084831" cy="54864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543032" y="1143000"/>
            <a:ext cx="658368" cy="65836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43032" y="1152144"/>
            <a:ext cx="65836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921240" y="1920240"/>
            <a:ext cx="1901951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HR
Visibility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66960" y="2697480"/>
            <a:ext cx="1810511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GM team sees all profiles, stats, and can simulate any expat in one click.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0040" y="5212080"/>
            <a:ext cx="11548872" cy="777240"/>
          </a:xfrm>
          <a:prstGeom prst="rect">
            <a:avLst/>
          </a:prstGeom>
          <a:solidFill>
            <a:srgbClr val="0D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20040" y="5212080"/>
            <a:ext cx="54864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5285232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4A3B8"/>
                </a:solidFill>
                <a:latin typeface="Calibri"/>
              </a:rPr>
              <a:t>"Every expat gets a dedicated concierge — always on, always accurate, always within policy. From offer acceptance to repatriation."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4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65760" y="665683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C7A"/>
                </a:solidFill>
                <a:latin typeface="Calibri"/>
              </a:rPr>
              <a:t>EXPAT CONCIERGE  ·  V2.4  ·  CONFIDENTIAL  ·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7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0" y="164592"/>
            <a:ext cx="777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445C7A"/>
                </a:solidFill>
                <a:latin typeface="Calibri"/>
              </a:rPr>
              <a:t>5 / 5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371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50292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The business case — in four points.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960120"/>
            <a:ext cx="7178040" cy="11887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960120"/>
            <a:ext cx="54864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960120"/>
            <a:ext cx="717804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069848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Reduce HR Workload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490472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Routine relocation Q&amp;A handled autonomously — no emails, no calls. HR focuses on strategic decisions, not FAQs.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31720"/>
            <a:ext cx="7178040" cy="11887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31720"/>
            <a:ext cx="54864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331720"/>
            <a:ext cx="717804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441448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Improve Expat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862072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Personalised, policy-accurate guidance from day one. Less anxiety, fewer errors, higher assignment success rate.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03320"/>
            <a:ext cx="7178040" cy="11887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3703320"/>
            <a:ext cx="54864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703320"/>
            <a:ext cx="7178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813048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Ensure Compliance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233672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Every response is bounded by assignment policy. No out-of-scope guidance. Reduces legal and compliance exposure.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5074920"/>
            <a:ext cx="7178040" cy="118872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5074920"/>
            <a:ext cx="54864" cy="1188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5074920"/>
            <a:ext cx="717804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184648"/>
            <a:ext cx="6766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Full Visibility &amp;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605272"/>
            <a:ext cx="6766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Real-time action tracking with owners and deadlines. HR has dashboard-level oversight across all active expats.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18120" y="960120"/>
            <a:ext cx="4050791" cy="5349240"/>
          </a:xfrm>
          <a:prstGeom prst="rect">
            <a:avLst/>
          </a:prstGeom>
          <a:solidFill>
            <a:srgbClr val="0F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18120" y="960120"/>
            <a:ext cx="4050791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818120" y="960120"/>
            <a:ext cx="54864" cy="5349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01000" y="1024128"/>
            <a:ext cx="37490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Next Steps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55279" y="1554480"/>
            <a:ext cx="292608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1554480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1536192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Live demo walkthrough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7" y="1828800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Schedule a 30-min demo with the GM team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955279" y="2450591"/>
            <a:ext cx="292608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5279" y="2450591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39327" y="2432303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Policy mapping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7" y="2724911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Upload company policy documents to the AI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79" y="3346704"/>
            <a:ext cx="292608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55279" y="334670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7" y="3328416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Profile setup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3621024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Define assignment types, scopes &amp; profiles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55279" y="4242816"/>
            <a:ext cx="292608" cy="29260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55279" y="424281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39327" y="4224528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Pilot launch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9327" y="4517136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Go live with 2–3 active expats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55279" y="5138928"/>
            <a:ext cx="292608" cy="29260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955279" y="513892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9327" y="5120640"/>
            <a:ext cx="3383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Full rollout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39327" y="541324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Scale to all assignments + HR admin dashboard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18120" y="5989320"/>
            <a:ext cx="4050791" cy="5486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818120" y="5989320"/>
            <a:ext cx="4050791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▶  Request a Live Demo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" y="60350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8BFA"/>
                </a:solidFill>
                <a:latin typeface="Calibri"/>
              </a:rPr>
              <a:t>34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" y="64922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Action items
per expat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130552" y="60350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8BFA"/>
                </a:solidFill>
                <a:latin typeface="Calibri"/>
              </a:rPr>
              <a:t>4+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30552" y="64922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Assignment types
covered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41063" y="60350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8BFA"/>
                </a:solidFill>
                <a:latin typeface="Calibri"/>
              </a:rPr>
              <a:t>100%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941063" y="64922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Policy-scoped
responses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51575" y="60350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8BFA"/>
                </a:solidFill>
                <a:latin typeface="Calibri"/>
              </a:rPr>
              <a:t>24 / 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51575" y="64922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94A3B8"/>
                </a:solidFill>
                <a:latin typeface="Calibri"/>
              </a:rPr>
              <a:t>AI availability
no downtime</a:t>
            </a:r>
          </a:p>
        </p:txBody>
      </p:sp>
      <p:sp>
        <p:nvSpPr>
          <p:cNvPr id="62" name="Rectangle 6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40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5760" y="6656832"/>
            <a:ext cx="10972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445C7A"/>
                </a:solidFill>
                <a:latin typeface="Calibri"/>
              </a:rPr>
              <a:t>EXPAT CONCIERGE  ·  V2.4  ·  CONFIDENTIAL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