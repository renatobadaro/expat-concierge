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F2C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0" y="0"/>
            <a:ext cx="4416552" cy="6858000"/>
          </a:xfrm>
          <a:prstGeom prst="rect">
            <a:avLst/>
          </a:prstGeom>
          <a:solidFill>
            <a:srgbClr val="2D7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132320" y="0"/>
            <a:ext cx="1097280" cy="6858000"/>
          </a:xfrm>
          <a:prstGeom prst="rect">
            <a:avLst/>
          </a:prstGeom>
          <a:solidFill>
            <a:srgbClr val="235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365760"/>
            <a:ext cx="2926080" cy="502920"/>
          </a:xfrm>
          <a:prstGeom prst="rect">
            <a:avLst/>
          </a:prstGeom>
          <a:solidFill>
            <a:srgbClr val="2D7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384048"/>
            <a:ext cx="2834640" cy="457200"/>
          </a:xfrm>
          <a:prstGeom prst="rect">
            <a:avLst/>
          </a:prstGeom>
          <a:noFill/>
        </p:spPr>
        <p:txBody>
          <a:bodyPr wrap="square">
            <a:spAutoFit/>
          </a:bodyPr>
          <a:lstStyle/>
          <a:p>
            <a:pPr algn="l"/>
            <a:r>
              <a:rPr sz="1300" b="1" i="0">
                <a:solidFill>
                  <a:srgbClr val="FFFFFF"/>
                </a:solidFill>
                <a:latin typeface="Calibri"/>
              </a:rPr>
              <a:t>EXPAT CONCIERGE</a:t>
            </a:r>
          </a:p>
        </p:txBody>
      </p:sp>
      <p:sp>
        <p:nvSpPr>
          <p:cNvPr id="8" name="Rectangle 7"/>
          <p:cNvSpPr/>
          <p:nvPr/>
        </p:nvSpPr>
        <p:spPr>
          <a:xfrm>
            <a:off x="3429000" y="384048"/>
            <a:ext cx="594360" cy="347472"/>
          </a:xfrm>
          <a:prstGeom prst="rect">
            <a:avLst/>
          </a:prstGeom>
          <a:solidFill>
            <a:srgbClr val="F2C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47288" y="393192"/>
            <a:ext cx="548640" cy="320040"/>
          </a:xfrm>
          <a:prstGeom prst="rect">
            <a:avLst/>
          </a:prstGeom>
          <a:noFill/>
        </p:spPr>
        <p:txBody>
          <a:bodyPr wrap="square">
            <a:spAutoFit/>
          </a:bodyPr>
          <a:lstStyle/>
          <a:p>
            <a:pPr algn="l"/>
            <a:r>
              <a:rPr sz="1100" b="1" i="0">
                <a:solidFill>
                  <a:srgbClr val="1A3A4A"/>
                </a:solidFill>
                <a:latin typeface="Calibri"/>
              </a:rPr>
              <a:t>V2.4</a:t>
            </a:r>
          </a:p>
        </p:txBody>
      </p:sp>
      <p:sp>
        <p:nvSpPr>
          <p:cNvPr id="10" name="TextBox 9"/>
          <p:cNvSpPr txBox="1"/>
          <p:nvPr/>
        </p:nvSpPr>
        <p:spPr>
          <a:xfrm>
            <a:off x="457200" y="1188720"/>
            <a:ext cx="6858000" cy="1005840"/>
          </a:xfrm>
          <a:prstGeom prst="rect">
            <a:avLst/>
          </a:prstGeom>
          <a:noFill/>
        </p:spPr>
        <p:txBody>
          <a:bodyPr wrap="square">
            <a:spAutoFit/>
          </a:bodyPr>
          <a:lstStyle/>
          <a:p>
            <a:pPr algn="l"/>
            <a:r>
              <a:rPr sz="4400" b="1" i="0">
                <a:solidFill>
                  <a:srgbClr val="FFFFFF"/>
                </a:solidFill>
                <a:latin typeface="Calibri"/>
              </a:rPr>
              <a:t>Global Mobility</a:t>
            </a:r>
          </a:p>
        </p:txBody>
      </p:sp>
      <p:sp>
        <p:nvSpPr>
          <p:cNvPr id="11" name="TextBox 10"/>
          <p:cNvSpPr txBox="1"/>
          <p:nvPr/>
        </p:nvSpPr>
        <p:spPr>
          <a:xfrm>
            <a:off x="457200" y="2103120"/>
            <a:ext cx="6858000" cy="914400"/>
          </a:xfrm>
          <a:prstGeom prst="rect">
            <a:avLst/>
          </a:prstGeom>
          <a:noFill/>
        </p:spPr>
        <p:txBody>
          <a:bodyPr wrap="square">
            <a:spAutoFit/>
          </a:bodyPr>
          <a:lstStyle/>
          <a:p>
            <a:pPr algn="l"/>
            <a:r>
              <a:rPr sz="4400" b="1" i="0">
                <a:solidFill>
                  <a:srgbClr val="F2C100"/>
                </a:solidFill>
                <a:latin typeface="Calibri"/>
              </a:rPr>
              <a:t>Reimagined.</a:t>
            </a:r>
          </a:p>
        </p:txBody>
      </p:sp>
      <p:sp>
        <p:nvSpPr>
          <p:cNvPr id="12" name="TextBox 11"/>
          <p:cNvSpPr txBox="1"/>
          <p:nvPr/>
        </p:nvSpPr>
        <p:spPr>
          <a:xfrm>
            <a:off x="457200" y="3154680"/>
            <a:ext cx="6583680" cy="1280160"/>
          </a:xfrm>
          <a:prstGeom prst="rect">
            <a:avLst/>
          </a:prstGeom>
          <a:noFill/>
        </p:spPr>
        <p:txBody>
          <a:bodyPr wrap="square">
            <a:spAutoFit/>
          </a:bodyPr>
          <a:lstStyle/>
          <a:p>
            <a:pPr algn="l"/>
            <a:r>
              <a:rPr sz="1600" b="0" i="0">
                <a:solidFill>
                  <a:srgbClr val="B0C8D8"/>
                </a:solidFill>
                <a:latin typeface="Calibri"/>
              </a:rPr>
              <a:t>An AI-powered concierge that guides expats through every step
of their global assignment — policy-scoped, profile-aware, always on.</a:t>
            </a:r>
          </a:p>
        </p:txBody>
      </p:sp>
      <p:sp>
        <p:nvSpPr>
          <p:cNvPr id="13" name="Rectangle 12"/>
          <p:cNvSpPr/>
          <p:nvPr/>
        </p:nvSpPr>
        <p:spPr>
          <a:xfrm>
            <a:off x="457200" y="4572000"/>
            <a:ext cx="3200400" cy="36576"/>
          </a:xfrm>
          <a:prstGeom prst="rect">
            <a:avLst/>
          </a:prstGeom>
          <a:solidFill>
            <a:srgbClr val="F2C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709160"/>
            <a:ext cx="4572000" cy="365760"/>
          </a:xfrm>
          <a:prstGeom prst="rect">
            <a:avLst/>
          </a:prstGeom>
          <a:noFill/>
        </p:spPr>
        <p:txBody>
          <a:bodyPr wrap="square">
            <a:spAutoFit/>
          </a:bodyPr>
          <a:lstStyle/>
          <a:p>
            <a:pPr algn="l"/>
            <a:r>
              <a:rPr sz="1100" b="0" i="0">
                <a:solidFill>
                  <a:srgbClr val="88A8B8"/>
                </a:solidFill>
                <a:latin typeface="Calibri"/>
              </a:rPr>
              <a:t>Executive Overview  ·  2026</a:t>
            </a:r>
          </a:p>
        </p:txBody>
      </p:sp>
      <p:sp>
        <p:nvSpPr>
          <p:cNvPr id="15" name="TextBox 14"/>
          <p:cNvSpPr txBox="1"/>
          <p:nvPr/>
        </p:nvSpPr>
        <p:spPr>
          <a:xfrm>
            <a:off x="7955279" y="1828800"/>
            <a:ext cx="3840480" cy="640080"/>
          </a:xfrm>
          <a:prstGeom prst="rect">
            <a:avLst/>
          </a:prstGeom>
          <a:noFill/>
        </p:spPr>
        <p:txBody>
          <a:bodyPr wrap="square">
            <a:spAutoFit/>
          </a:bodyPr>
          <a:lstStyle/>
          <a:p>
            <a:pPr algn="l"/>
            <a:r>
              <a:rPr sz="1300" b="0" i="0">
                <a:solidFill>
                  <a:srgbClr val="FFFFFF"/>
                </a:solidFill>
                <a:latin typeface="Calibri"/>
              </a:rPr>
              <a:t>🌍  Multi-assignment support</a:t>
            </a:r>
          </a:p>
        </p:txBody>
      </p:sp>
      <p:sp>
        <p:nvSpPr>
          <p:cNvPr id="16" name="TextBox 15"/>
          <p:cNvSpPr txBox="1"/>
          <p:nvPr/>
        </p:nvSpPr>
        <p:spPr>
          <a:xfrm>
            <a:off x="7955279" y="2606040"/>
            <a:ext cx="3840480" cy="640080"/>
          </a:xfrm>
          <a:prstGeom prst="rect">
            <a:avLst/>
          </a:prstGeom>
          <a:noFill/>
        </p:spPr>
        <p:txBody>
          <a:bodyPr wrap="square">
            <a:spAutoFit/>
          </a:bodyPr>
          <a:lstStyle/>
          <a:p>
            <a:pPr algn="l"/>
            <a:r>
              <a:rPr sz="1300" b="0" i="0">
                <a:solidFill>
                  <a:srgbClr val="FFFFFF"/>
                </a:solidFill>
                <a:latin typeface="Calibri"/>
              </a:rPr>
              <a:t>🤖  AI-powered, policy-scoped</a:t>
            </a:r>
          </a:p>
        </p:txBody>
      </p:sp>
      <p:sp>
        <p:nvSpPr>
          <p:cNvPr id="17" name="TextBox 16"/>
          <p:cNvSpPr txBox="1"/>
          <p:nvPr/>
        </p:nvSpPr>
        <p:spPr>
          <a:xfrm>
            <a:off x="7955279" y="3383280"/>
            <a:ext cx="3840480" cy="640080"/>
          </a:xfrm>
          <a:prstGeom prst="rect">
            <a:avLst/>
          </a:prstGeom>
          <a:noFill/>
        </p:spPr>
        <p:txBody>
          <a:bodyPr wrap="square">
            <a:spAutoFit/>
          </a:bodyPr>
          <a:lstStyle/>
          <a:p>
            <a:pPr algn="l"/>
            <a:r>
              <a:rPr sz="1300" b="0" i="0">
                <a:solidFill>
                  <a:srgbClr val="FFFFFF"/>
                </a:solidFill>
                <a:latin typeface="Calibri"/>
              </a:rPr>
              <a:t>📋  Action log &amp; task tracking</a:t>
            </a:r>
          </a:p>
        </p:txBody>
      </p:sp>
      <p:sp>
        <p:nvSpPr>
          <p:cNvPr id="18" name="TextBox 17"/>
          <p:cNvSpPr txBox="1"/>
          <p:nvPr/>
        </p:nvSpPr>
        <p:spPr>
          <a:xfrm>
            <a:off x="7955279" y="4160520"/>
            <a:ext cx="3840480" cy="640080"/>
          </a:xfrm>
          <a:prstGeom prst="rect">
            <a:avLst/>
          </a:prstGeom>
          <a:noFill/>
        </p:spPr>
        <p:txBody>
          <a:bodyPr wrap="square">
            <a:spAutoFit/>
          </a:bodyPr>
          <a:lstStyle/>
          <a:p>
            <a:pPr algn="l"/>
            <a:r>
              <a:rPr sz="1300" b="0" i="0">
                <a:solidFill>
                  <a:srgbClr val="FFFFFF"/>
                </a:solidFill>
                <a:latin typeface="Calibri"/>
              </a:rPr>
              <a:t>🔒  Secure, profile-aware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6858000"/>
          </a:xfrm>
          <a:prstGeom prst="rect">
            <a:avLst/>
          </a:prstGeom>
          <a:solidFill>
            <a:srgbClr val="F2C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82880"/>
            <a:ext cx="8229600" cy="685800"/>
          </a:xfrm>
          <a:prstGeom prst="rect">
            <a:avLst/>
          </a:prstGeom>
          <a:noFill/>
        </p:spPr>
        <p:txBody>
          <a:bodyPr wrap="square">
            <a:spAutoFit/>
          </a:bodyPr>
          <a:lstStyle/>
          <a:p>
            <a:pPr algn="l"/>
            <a:r>
              <a:rPr sz="2400" b="1" i="0">
                <a:solidFill>
                  <a:srgbClr val="FFFFFF"/>
                </a:solidFill>
                <a:latin typeface="Calibri"/>
              </a:rPr>
              <a:t>What is Expat Concierge?</a:t>
            </a:r>
          </a:p>
        </p:txBody>
      </p:sp>
      <p:sp>
        <p:nvSpPr>
          <p:cNvPr id="6" name="TextBox 5"/>
          <p:cNvSpPr txBox="1"/>
          <p:nvPr/>
        </p:nvSpPr>
        <p:spPr>
          <a:xfrm>
            <a:off x="10515600" y="274320"/>
            <a:ext cx="1554480" cy="365760"/>
          </a:xfrm>
          <a:prstGeom prst="rect">
            <a:avLst/>
          </a:prstGeom>
          <a:noFill/>
        </p:spPr>
        <p:txBody>
          <a:bodyPr wrap="square">
            <a:spAutoFit/>
          </a:bodyPr>
          <a:lstStyle/>
          <a:p>
            <a:pPr algn="r"/>
            <a:r>
              <a:rPr sz="900" b="0" i="0">
                <a:solidFill>
                  <a:srgbClr val="88A8B8"/>
                </a:solidFill>
                <a:latin typeface="Calibri"/>
              </a:rPr>
              <a:t>SLIDE 2 OF 5</a:t>
            </a:r>
          </a:p>
        </p:txBody>
      </p:sp>
      <p:sp>
        <p:nvSpPr>
          <p:cNvPr id="7" name="Rectangle 6"/>
          <p:cNvSpPr/>
          <p:nvPr/>
        </p:nvSpPr>
        <p:spPr>
          <a:xfrm>
            <a:off x="320040" y="1188720"/>
            <a:ext cx="5394960" cy="2331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188720"/>
            <a:ext cx="5394960" cy="38404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216152"/>
            <a:ext cx="5120640" cy="347472"/>
          </a:xfrm>
          <a:prstGeom prst="rect">
            <a:avLst/>
          </a:prstGeom>
          <a:noFill/>
        </p:spPr>
        <p:txBody>
          <a:bodyPr wrap="square">
            <a:spAutoFit/>
          </a:bodyPr>
          <a:lstStyle/>
          <a:p>
            <a:pPr algn="l"/>
            <a:r>
              <a:rPr sz="1100" b="1" i="0">
                <a:solidFill>
                  <a:srgbClr val="FFFFFF"/>
                </a:solidFill>
                <a:latin typeface="Calibri"/>
              </a:rPr>
              <a:t>⚠  THE CHALLENGE</a:t>
            </a:r>
          </a:p>
        </p:txBody>
      </p:sp>
      <p:sp>
        <p:nvSpPr>
          <p:cNvPr id="10" name="TextBox 9"/>
          <p:cNvSpPr txBox="1"/>
          <p:nvPr/>
        </p:nvSpPr>
        <p:spPr>
          <a:xfrm>
            <a:off x="457200" y="1691640"/>
            <a:ext cx="5120640" cy="594360"/>
          </a:xfrm>
          <a:prstGeom prst="rect">
            <a:avLst/>
          </a:prstGeom>
          <a:noFill/>
        </p:spPr>
        <p:txBody>
          <a:bodyPr wrap="square">
            <a:spAutoFit/>
          </a:bodyPr>
          <a:lstStyle/>
          <a:p>
            <a:pPr algn="l"/>
            <a:r>
              <a:rPr sz="1250" b="0" i="0">
                <a:solidFill>
                  <a:srgbClr val="1A2A35"/>
                </a:solidFill>
                <a:latin typeface="Calibri"/>
              </a:rPr>
              <a:t>•  Expats are overwhelmed by complex policies,
multiple vendors, and unclear next steps.</a:t>
            </a:r>
          </a:p>
        </p:txBody>
      </p:sp>
      <p:sp>
        <p:nvSpPr>
          <p:cNvPr id="11" name="TextBox 10"/>
          <p:cNvSpPr txBox="1"/>
          <p:nvPr/>
        </p:nvSpPr>
        <p:spPr>
          <a:xfrm>
            <a:off x="457200" y="2331720"/>
            <a:ext cx="5120640" cy="594360"/>
          </a:xfrm>
          <a:prstGeom prst="rect">
            <a:avLst/>
          </a:prstGeom>
          <a:noFill/>
        </p:spPr>
        <p:txBody>
          <a:bodyPr wrap="square">
            <a:spAutoFit/>
          </a:bodyPr>
          <a:lstStyle/>
          <a:p>
            <a:pPr algn="l"/>
            <a:r>
              <a:rPr sz="1250" b="0" i="0">
                <a:solidFill>
                  <a:srgbClr val="1A2A35"/>
                </a:solidFill>
                <a:latin typeface="Calibri"/>
              </a:rPr>
              <a:t>•  HR teams spend hours answering repetitive
questions across email, Slack, and calls.</a:t>
            </a:r>
          </a:p>
        </p:txBody>
      </p:sp>
      <p:sp>
        <p:nvSpPr>
          <p:cNvPr id="12" name="TextBox 11"/>
          <p:cNvSpPr txBox="1"/>
          <p:nvPr/>
        </p:nvSpPr>
        <p:spPr>
          <a:xfrm>
            <a:off x="457200" y="2971800"/>
            <a:ext cx="5120640" cy="594360"/>
          </a:xfrm>
          <a:prstGeom prst="rect">
            <a:avLst/>
          </a:prstGeom>
          <a:noFill/>
        </p:spPr>
        <p:txBody>
          <a:bodyPr wrap="square">
            <a:spAutoFit/>
          </a:bodyPr>
          <a:lstStyle/>
          <a:p>
            <a:pPr algn="l"/>
            <a:r>
              <a:rPr sz="1250" b="0" i="0">
                <a:solidFill>
                  <a:srgbClr val="1A2A35"/>
                </a:solidFill>
                <a:latin typeface="Calibri"/>
              </a:rPr>
              <a:t>•  Assignments stall due to missed deadlines,
poor visibility, and lack of personalised guidance.</a:t>
            </a:r>
          </a:p>
        </p:txBody>
      </p:sp>
      <p:sp>
        <p:nvSpPr>
          <p:cNvPr id="13" name="Rectangle 12"/>
          <p:cNvSpPr/>
          <p:nvPr/>
        </p:nvSpPr>
        <p:spPr>
          <a:xfrm>
            <a:off x="6126480" y="1188720"/>
            <a:ext cx="5742432" cy="2331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26480" y="1188720"/>
            <a:ext cx="5742432" cy="384048"/>
          </a:xfrm>
          <a:prstGeom prst="rect">
            <a:avLst/>
          </a:prstGeom>
          <a:solidFill>
            <a:srgbClr val="2D7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40" y="1216152"/>
            <a:ext cx="5486400" cy="347472"/>
          </a:xfrm>
          <a:prstGeom prst="rect">
            <a:avLst/>
          </a:prstGeom>
          <a:noFill/>
        </p:spPr>
        <p:txBody>
          <a:bodyPr wrap="square">
            <a:spAutoFit/>
          </a:bodyPr>
          <a:lstStyle/>
          <a:p>
            <a:pPr algn="l"/>
            <a:r>
              <a:rPr sz="1100" b="1" i="0">
                <a:solidFill>
                  <a:srgbClr val="FFFFFF"/>
                </a:solidFill>
                <a:latin typeface="Calibri"/>
              </a:rPr>
              <a:t>✅  THE SOLUTION</a:t>
            </a:r>
          </a:p>
        </p:txBody>
      </p:sp>
      <p:sp>
        <p:nvSpPr>
          <p:cNvPr id="16" name="TextBox 15"/>
          <p:cNvSpPr txBox="1"/>
          <p:nvPr/>
        </p:nvSpPr>
        <p:spPr>
          <a:xfrm>
            <a:off x="6263640" y="1691640"/>
            <a:ext cx="5486400" cy="594360"/>
          </a:xfrm>
          <a:prstGeom prst="rect">
            <a:avLst/>
          </a:prstGeom>
          <a:noFill/>
        </p:spPr>
        <p:txBody>
          <a:bodyPr wrap="square">
            <a:spAutoFit/>
          </a:bodyPr>
          <a:lstStyle/>
          <a:p>
            <a:pPr algn="l"/>
            <a:r>
              <a:rPr sz="1250" b="0" i="0">
                <a:solidFill>
                  <a:srgbClr val="1A2A35"/>
                </a:solidFill>
                <a:latin typeface="Calibri"/>
              </a:rPr>
              <a:t>•  A 24/7 AI concierge, trained on company policy,
that knows each expat's profile and assignment.</a:t>
            </a:r>
          </a:p>
        </p:txBody>
      </p:sp>
      <p:sp>
        <p:nvSpPr>
          <p:cNvPr id="17" name="TextBox 16"/>
          <p:cNvSpPr txBox="1"/>
          <p:nvPr/>
        </p:nvSpPr>
        <p:spPr>
          <a:xfrm>
            <a:off x="6263640" y="2331720"/>
            <a:ext cx="5486400" cy="594360"/>
          </a:xfrm>
          <a:prstGeom prst="rect">
            <a:avLst/>
          </a:prstGeom>
          <a:noFill/>
        </p:spPr>
        <p:txBody>
          <a:bodyPr wrap="square">
            <a:spAutoFit/>
          </a:bodyPr>
          <a:lstStyle/>
          <a:p>
            <a:pPr algn="l"/>
            <a:r>
              <a:rPr sz="1250" b="0" i="0">
                <a:solidFill>
                  <a:srgbClr val="1A2A35"/>
                </a:solidFill>
                <a:latin typeface="Calibri"/>
              </a:rPr>
              <a:t>•  Instant, accurate answers scoped to assignment
type — LTA, STA, IA, Commuter.</a:t>
            </a:r>
          </a:p>
        </p:txBody>
      </p:sp>
      <p:sp>
        <p:nvSpPr>
          <p:cNvPr id="18" name="TextBox 17"/>
          <p:cNvSpPr txBox="1"/>
          <p:nvPr/>
        </p:nvSpPr>
        <p:spPr>
          <a:xfrm>
            <a:off x="6263640" y="2971800"/>
            <a:ext cx="5486400" cy="594360"/>
          </a:xfrm>
          <a:prstGeom prst="rect">
            <a:avLst/>
          </a:prstGeom>
          <a:noFill/>
        </p:spPr>
        <p:txBody>
          <a:bodyPr wrap="square">
            <a:spAutoFit/>
          </a:bodyPr>
          <a:lstStyle/>
          <a:p>
            <a:pPr algn="l"/>
            <a:r>
              <a:rPr sz="1250" b="0" i="0">
                <a:solidFill>
                  <a:srgbClr val="1A2A35"/>
                </a:solidFill>
                <a:latin typeface="Calibri"/>
              </a:rPr>
              <a:t>•  Built-in action tracking with deadlines, owners,
and proactive alerts for the expat and GM team.</a:t>
            </a:r>
          </a:p>
        </p:txBody>
      </p:sp>
      <p:sp>
        <p:nvSpPr>
          <p:cNvPr id="19" name="TextBox 18"/>
          <p:cNvSpPr txBox="1"/>
          <p:nvPr/>
        </p:nvSpPr>
        <p:spPr>
          <a:xfrm>
            <a:off x="5486400" y="2103120"/>
            <a:ext cx="731520" cy="731520"/>
          </a:xfrm>
          <a:prstGeom prst="rect">
            <a:avLst/>
          </a:prstGeom>
          <a:noFill/>
        </p:spPr>
        <p:txBody>
          <a:bodyPr wrap="square">
            <a:spAutoFit/>
          </a:bodyPr>
          <a:lstStyle/>
          <a:p>
            <a:pPr algn="ctr"/>
            <a:r>
              <a:rPr sz="3200" b="1" i="0">
                <a:solidFill>
                  <a:srgbClr val="F2C100"/>
                </a:solidFill>
                <a:latin typeface="Calibri"/>
              </a:rPr>
              <a:t>→</a:t>
            </a:r>
          </a:p>
        </p:txBody>
      </p:sp>
      <p:sp>
        <p:nvSpPr>
          <p:cNvPr id="20" name="Rectangle 19"/>
          <p:cNvSpPr/>
          <p:nvPr/>
        </p:nvSpPr>
        <p:spPr>
          <a:xfrm>
            <a:off x="320040" y="3794760"/>
            <a:ext cx="2651760" cy="128016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886200"/>
            <a:ext cx="2468879" cy="594360"/>
          </a:xfrm>
          <a:prstGeom prst="rect">
            <a:avLst/>
          </a:prstGeom>
          <a:noFill/>
        </p:spPr>
        <p:txBody>
          <a:bodyPr wrap="square">
            <a:spAutoFit/>
          </a:bodyPr>
          <a:lstStyle/>
          <a:p>
            <a:pPr algn="ctr"/>
            <a:r>
              <a:rPr sz="2600" b="1" i="0">
                <a:solidFill>
                  <a:srgbClr val="F2C100"/>
                </a:solidFill>
                <a:latin typeface="Calibri"/>
              </a:rPr>
              <a:t>4+</a:t>
            </a:r>
          </a:p>
        </p:txBody>
      </p:sp>
      <p:sp>
        <p:nvSpPr>
          <p:cNvPr id="22" name="TextBox 21"/>
          <p:cNvSpPr txBox="1"/>
          <p:nvPr/>
        </p:nvSpPr>
        <p:spPr>
          <a:xfrm>
            <a:off x="457200" y="4434840"/>
            <a:ext cx="2468879" cy="548640"/>
          </a:xfrm>
          <a:prstGeom prst="rect">
            <a:avLst/>
          </a:prstGeom>
          <a:noFill/>
        </p:spPr>
        <p:txBody>
          <a:bodyPr wrap="square">
            <a:spAutoFit/>
          </a:bodyPr>
          <a:lstStyle/>
          <a:p>
            <a:pPr algn="ctr"/>
            <a:r>
              <a:rPr sz="1050" b="0" i="0">
                <a:solidFill>
                  <a:srgbClr val="B0C8D8"/>
                </a:solidFill>
                <a:latin typeface="Calibri"/>
              </a:rPr>
              <a:t>Assignment types
supported</a:t>
            </a:r>
          </a:p>
        </p:txBody>
      </p:sp>
      <p:sp>
        <p:nvSpPr>
          <p:cNvPr id="23" name="Rectangle 22"/>
          <p:cNvSpPr/>
          <p:nvPr/>
        </p:nvSpPr>
        <p:spPr>
          <a:xfrm>
            <a:off x="3200400" y="3794760"/>
            <a:ext cx="2651760" cy="128016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37560" y="3886200"/>
            <a:ext cx="2468879" cy="594360"/>
          </a:xfrm>
          <a:prstGeom prst="rect">
            <a:avLst/>
          </a:prstGeom>
          <a:noFill/>
        </p:spPr>
        <p:txBody>
          <a:bodyPr wrap="square">
            <a:spAutoFit/>
          </a:bodyPr>
          <a:lstStyle/>
          <a:p>
            <a:pPr algn="ctr"/>
            <a:r>
              <a:rPr sz="2600" b="1" i="0">
                <a:solidFill>
                  <a:srgbClr val="F2C100"/>
                </a:solidFill>
                <a:latin typeface="Calibri"/>
              </a:rPr>
              <a:t>34</a:t>
            </a:r>
          </a:p>
        </p:txBody>
      </p:sp>
      <p:sp>
        <p:nvSpPr>
          <p:cNvPr id="25" name="TextBox 24"/>
          <p:cNvSpPr txBox="1"/>
          <p:nvPr/>
        </p:nvSpPr>
        <p:spPr>
          <a:xfrm>
            <a:off x="3337560" y="4434840"/>
            <a:ext cx="2468879" cy="548640"/>
          </a:xfrm>
          <a:prstGeom prst="rect">
            <a:avLst/>
          </a:prstGeom>
          <a:noFill/>
        </p:spPr>
        <p:txBody>
          <a:bodyPr wrap="square">
            <a:spAutoFit/>
          </a:bodyPr>
          <a:lstStyle/>
          <a:p>
            <a:pPr algn="ctr"/>
            <a:r>
              <a:rPr sz="1050" b="0" i="0">
                <a:solidFill>
                  <a:srgbClr val="B0C8D8"/>
                </a:solidFill>
                <a:latin typeface="Calibri"/>
              </a:rPr>
              <a:t>Tracked action items
per expat</a:t>
            </a:r>
          </a:p>
        </p:txBody>
      </p:sp>
      <p:sp>
        <p:nvSpPr>
          <p:cNvPr id="26" name="Rectangle 25"/>
          <p:cNvSpPr/>
          <p:nvPr/>
        </p:nvSpPr>
        <p:spPr>
          <a:xfrm>
            <a:off x="6080759" y="3794760"/>
            <a:ext cx="2651760" cy="128016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0" y="3886200"/>
            <a:ext cx="2468879" cy="594360"/>
          </a:xfrm>
          <a:prstGeom prst="rect">
            <a:avLst/>
          </a:prstGeom>
          <a:noFill/>
        </p:spPr>
        <p:txBody>
          <a:bodyPr wrap="square">
            <a:spAutoFit/>
          </a:bodyPr>
          <a:lstStyle/>
          <a:p>
            <a:pPr algn="ctr"/>
            <a:r>
              <a:rPr sz="2600" b="1" i="0">
                <a:solidFill>
                  <a:srgbClr val="F2C100"/>
                </a:solidFill>
                <a:latin typeface="Calibri"/>
              </a:rPr>
              <a:t>100%</a:t>
            </a:r>
          </a:p>
        </p:txBody>
      </p:sp>
      <p:sp>
        <p:nvSpPr>
          <p:cNvPr id="28" name="TextBox 27"/>
          <p:cNvSpPr txBox="1"/>
          <p:nvPr/>
        </p:nvSpPr>
        <p:spPr>
          <a:xfrm>
            <a:off x="6217920" y="4434840"/>
            <a:ext cx="2468879" cy="548640"/>
          </a:xfrm>
          <a:prstGeom prst="rect">
            <a:avLst/>
          </a:prstGeom>
          <a:noFill/>
        </p:spPr>
        <p:txBody>
          <a:bodyPr wrap="square">
            <a:spAutoFit/>
          </a:bodyPr>
          <a:lstStyle/>
          <a:p>
            <a:pPr algn="ctr"/>
            <a:r>
              <a:rPr sz="1050" b="0" i="0">
                <a:solidFill>
                  <a:srgbClr val="B0C8D8"/>
                </a:solidFill>
                <a:latin typeface="Calibri"/>
              </a:rPr>
              <a:t>Policy-scoped
responses</a:t>
            </a:r>
          </a:p>
        </p:txBody>
      </p:sp>
      <p:sp>
        <p:nvSpPr>
          <p:cNvPr id="29" name="Rectangle 28"/>
          <p:cNvSpPr/>
          <p:nvPr/>
        </p:nvSpPr>
        <p:spPr>
          <a:xfrm>
            <a:off x="8961119" y="3794760"/>
            <a:ext cx="2651760" cy="128016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98280" y="3886200"/>
            <a:ext cx="2468879" cy="594360"/>
          </a:xfrm>
          <a:prstGeom prst="rect">
            <a:avLst/>
          </a:prstGeom>
          <a:noFill/>
        </p:spPr>
        <p:txBody>
          <a:bodyPr wrap="square">
            <a:spAutoFit/>
          </a:bodyPr>
          <a:lstStyle/>
          <a:p>
            <a:pPr algn="ctr"/>
            <a:r>
              <a:rPr sz="2600" b="1" i="0">
                <a:solidFill>
                  <a:srgbClr val="F2C100"/>
                </a:solidFill>
                <a:latin typeface="Calibri"/>
              </a:rPr>
              <a:t>Zero backend</a:t>
            </a:r>
          </a:p>
        </p:txBody>
      </p:sp>
      <p:sp>
        <p:nvSpPr>
          <p:cNvPr id="31" name="TextBox 30"/>
          <p:cNvSpPr txBox="1"/>
          <p:nvPr/>
        </p:nvSpPr>
        <p:spPr>
          <a:xfrm>
            <a:off x="9098280" y="4434840"/>
            <a:ext cx="2468879" cy="548640"/>
          </a:xfrm>
          <a:prstGeom prst="rect">
            <a:avLst/>
          </a:prstGeom>
          <a:noFill/>
        </p:spPr>
        <p:txBody>
          <a:bodyPr wrap="square">
            <a:spAutoFit/>
          </a:bodyPr>
          <a:lstStyle/>
          <a:p>
            <a:pPr algn="ctr"/>
            <a:r>
              <a:rPr sz="1050" b="0" i="0">
                <a:solidFill>
                  <a:srgbClr val="B0C8D8"/>
                </a:solidFill>
                <a:latin typeface="Calibri"/>
              </a:rPr>
              <a:t>Standalone HTML
demo ready</a:t>
            </a:r>
          </a:p>
        </p:txBody>
      </p:sp>
      <p:sp>
        <p:nvSpPr>
          <p:cNvPr id="32" name="Rectangle 31"/>
          <p:cNvSpPr/>
          <p:nvPr/>
        </p:nvSpPr>
        <p:spPr>
          <a:xfrm>
            <a:off x="0" y="6537960"/>
            <a:ext cx="12188952" cy="3200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0040" y="6565392"/>
            <a:ext cx="7315200" cy="256032"/>
          </a:xfrm>
          <a:prstGeom prst="rect">
            <a:avLst/>
          </a:prstGeom>
          <a:noFill/>
        </p:spPr>
        <p:txBody>
          <a:bodyPr wrap="square">
            <a:spAutoFit/>
          </a:bodyPr>
          <a:lstStyle/>
          <a:p>
            <a:pPr algn="l"/>
            <a:r>
              <a:rPr sz="900" b="0" i="0">
                <a:solidFill>
                  <a:srgbClr val="88A8B8"/>
                </a:solidFill>
                <a:latin typeface="Calibri"/>
              </a:rPr>
              <a:t>Expat Concierge V2.4  ·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6858000"/>
          </a:xfrm>
          <a:prstGeom prst="rect">
            <a:avLst/>
          </a:prstGeom>
          <a:solidFill>
            <a:srgbClr val="F2C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82880"/>
            <a:ext cx="8229600" cy="685800"/>
          </a:xfrm>
          <a:prstGeom prst="rect">
            <a:avLst/>
          </a:prstGeom>
          <a:noFill/>
        </p:spPr>
        <p:txBody>
          <a:bodyPr wrap="square">
            <a:spAutoFit/>
          </a:bodyPr>
          <a:lstStyle/>
          <a:p>
            <a:pPr algn="l"/>
            <a:r>
              <a:rPr sz="2400" b="1" i="0">
                <a:solidFill>
                  <a:srgbClr val="FFFFFF"/>
                </a:solidFill>
                <a:latin typeface="Calibri"/>
              </a:rPr>
              <a:t>Key Features</a:t>
            </a:r>
          </a:p>
        </p:txBody>
      </p:sp>
      <p:sp>
        <p:nvSpPr>
          <p:cNvPr id="6" name="TextBox 5"/>
          <p:cNvSpPr txBox="1"/>
          <p:nvPr/>
        </p:nvSpPr>
        <p:spPr>
          <a:xfrm>
            <a:off x="10515600" y="274320"/>
            <a:ext cx="1554480" cy="365760"/>
          </a:xfrm>
          <a:prstGeom prst="rect">
            <a:avLst/>
          </a:prstGeom>
          <a:noFill/>
        </p:spPr>
        <p:txBody>
          <a:bodyPr wrap="square">
            <a:spAutoFit/>
          </a:bodyPr>
          <a:lstStyle/>
          <a:p>
            <a:pPr algn="r"/>
            <a:r>
              <a:rPr sz="900" b="0" i="0">
                <a:solidFill>
                  <a:srgbClr val="88A8B8"/>
                </a:solidFill>
                <a:latin typeface="Calibri"/>
              </a:rPr>
              <a:t>SLIDE 3 OF 5</a:t>
            </a:r>
          </a:p>
        </p:txBody>
      </p:sp>
      <p:sp>
        <p:nvSpPr>
          <p:cNvPr id="7" name="Rectangle 6"/>
          <p:cNvSpPr/>
          <p:nvPr/>
        </p:nvSpPr>
        <p:spPr>
          <a:xfrm>
            <a:off x="320040" y="1143000"/>
            <a:ext cx="3749039" cy="2331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143000"/>
            <a:ext cx="3749039" cy="457200"/>
          </a:xfrm>
          <a:prstGeom prst="rect">
            <a:avLst/>
          </a:prstGeom>
          <a:solidFill>
            <a:srgbClr val="2D7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207008"/>
            <a:ext cx="3566159" cy="365760"/>
          </a:xfrm>
          <a:prstGeom prst="rect">
            <a:avLst/>
          </a:prstGeom>
          <a:noFill/>
        </p:spPr>
        <p:txBody>
          <a:bodyPr wrap="square">
            <a:spAutoFit/>
          </a:bodyPr>
          <a:lstStyle/>
          <a:p>
            <a:pPr algn="l"/>
            <a:r>
              <a:rPr sz="1300" b="1" i="0">
                <a:solidFill>
                  <a:srgbClr val="FFFFFF"/>
                </a:solidFill>
                <a:latin typeface="Calibri"/>
              </a:rPr>
              <a:t>🤖  AI-Powered Chat</a:t>
            </a:r>
          </a:p>
        </p:txBody>
      </p:sp>
      <p:sp>
        <p:nvSpPr>
          <p:cNvPr id="10" name="TextBox 9"/>
          <p:cNvSpPr txBox="1"/>
          <p:nvPr/>
        </p:nvSpPr>
        <p:spPr>
          <a:xfrm>
            <a:off x="457200" y="1691640"/>
            <a:ext cx="3566159" cy="1691640"/>
          </a:xfrm>
          <a:prstGeom prst="rect">
            <a:avLst/>
          </a:prstGeom>
          <a:noFill/>
        </p:spPr>
        <p:txBody>
          <a:bodyPr wrap="square">
            <a:spAutoFit/>
          </a:bodyPr>
          <a:lstStyle/>
          <a:p>
            <a:pPr algn="l"/>
            <a:r>
              <a:rPr sz="1050" b="0" i="0">
                <a:solidFill>
                  <a:srgbClr val="1A2A35"/>
                </a:solidFill>
                <a:latin typeface="Calibri"/>
              </a:rPr>
              <a:t>Answers any relocation question in seconds. Responses are grounded in company policy, scoped to the expat's assignment type (LTA / STA / IA / Commuter) and personalised to their profile — family, housing, tax, visa.</a:t>
            </a:r>
          </a:p>
        </p:txBody>
      </p:sp>
      <p:sp>
        <p:nvSpPr>
          <p:cNvPr id="11" name="Rectangle 10"/>
          <p:cNvSpPr/>
          <p:nvPr/>
        </p:nvSpPr>
        <p:spPr>
          <a:xfrm>
            <a:off x="4251959" y="1143000"/>
            <a:ext cx="3749039" cy="2331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1959" y="1143000"/>
            <a:ext cx="3749039" cy="4572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1207008"/>
            <a:ext cx="3566159" cy="365760"/>
          </a:xfrm>
          <a:prstGeom prst="rect">
            <a:avLst/>
          </a:prstGeom>
          <a:noFill/>
        </p:spPr>
        <p:txBody>
          <a:bodyPr wrap="square">
            <a:spAutoFit/>
          </a:bodyPr>
          <a:lstStyle/>
          <a:p>
            <a:pPr algn="l"/>
            <a:r>
              <a:rPr sz="1300" b="1" i="0">
                <a:solidFill>
                  <a:srgbClr val="FFFFFF"/>
                </a:solidFill>
                <a:latin typeface="Calibri"/>
              </a:rPr>
              <a:t>📋  Action Log &amp; Task Tracking</a:t>
            </a:r>
          </a:p>
        </p:txBody>
      </p:sp>
      <p:sp>
        <p:nvSpPr>
          <p:cNvPr id="14" name="TextBox 13"/>
          <p:cNvSpPr txBox="1"/>
          <p:nvPr/>
        </p:nvSpPr>
        <p:spPr>
          <a:xfrm>
            <a:off x="4389120" y="1691640"/>
            <a:ext cx="3566159" cy="1691640"/>
          </a:xfrm>
          <a:prstGeom prst="rect">
            <a:avLst/>
          </a:prstGeom>
          <a:noFill/>
        </p:spPr>
        <p:txBody>
          <a:bodyPr wrap="square">
            <a:spAutoFit/>
          </a:bodyPr>
          <a:lstStyle/>
          <a:p>
            <a:pPr algn="l"/>
            <a:r>
              <a:rPr sz="1050" b="0" i="0">
                <a:solidFill>
                  <a:srgbClr val="1A2A35"/>
                </a:solidFill>
                <a:latin typeface="Calibri"/>
              </a:rPr>
              <a:t>Every assignment comes with 34 pre-loaded action items mapped to deadlines. Each task shows its owner (Expat, GM Team, Vialto, K2, Net Expat), status, and days remaining. Overdue tasks are highlighted with alerts.</a:t>
            </a:r>
          </a:p>
        </p:txBody>
      </p:sp>
      <p:sp>
        <p:nvSpPr>
          <p:cNvPr id="15" name="Rectangle 14"/>
          <p:cNvSpPr/>
          <p:nvPr/>
        </p:nvSpPr>
        <p:spPr>
          <a:xfrm>
            <a:off x="8183879" y="1143000"/>
            <a:ext cx="3749039" cy="2331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83879" y="1143000"/>
            <a:ext cx="3749039" cy="4572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1207008"/>
            <a:ext cx="3566159" cy="365760"/>
          </a:xfrm>
          <a:prstGeom prst="rect">
            <a:avLst/>
          </a:prstGeom>
          <a:noFill/>
        </p:spPr>
        <p:txBody>
          <a:bodyPr wrap="square">
            <a:spAutoFit/>
          </a:bodyPr>
          <a:lstStyle/>
          <a:p>
            <a:pPr algn="l"/>
            <a:r>
              <a:rPr sz="1300" b="1" i="0">
                <a:solidFill>
                  <a:srgbClr val="FFFFFF"/>
                </a:solidFill>
                <a:latin typeface="Calibri"/>
              </a:rPr>
              <a:t>👤  Multi-Profile Support</a:t>
            </a:r>
          </a:p>
        </p:txBody>
      </p:sp>
      <p:sp>
        <p:nvSpPr>
          <p:cNvPr id="18" name="TextBox 17"/>
          <p:cNvSpPr txBox="1"/>
          <p:nvPr/>
        </p:nvSpPr>
        <p:spPr>
          <a:xfrm>
            <a:off x="8321040" y="1691640"/>
            <a:ext cx="3566159" cy="1691640"/>
          </a:xfrm>
          <a:prstGeom prst="rect">
            <a:avLst/>
          </a:prstGeom>
          <a:noFill/>
        </p:spPr>
        <p:txBody>
          <a:bodyPr wrap="square">
            <a:spAutoFit/>
          </a:bodyPr>
          <a:lstStyle/>
          <a:p>
            <a:pPr algn="l"/>
            <a:r>
              <a:rPr sz="1050" b="0" i="0">
                <a:solidFill>
                  <a:srgbClr val="1A2A35"/>
                </a:solidFill>
                <a:latin typeface="Calibri"/>
              </a:rPr>
              <a:t>Supports any number of expat profiles simultaneously. HR admins can simulate any user, view their action log, and switch context instantly. Each profile drives personalised chat, suggested questions, and task visibility.</a:t>
            </a:r>
          </a:p>
        </p:txBody>
      </p:sp>
      <p:sp>
        <p:nvSpPr>
          <p:cNvPr id="19" name="Rectangle 18"/>
          <p:cNvSpPr/>
          <p:nvPr/>
        </p:nvSpPr>
        <p:spPr>
          <a:xfrm>
            <a:off x="320040" y="3703320"/>
            <a:ext cx="3749039" cy="2331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0040" y="3703320"/>
            <a:ext cx="3749039" cy="45720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767328"/>
            <a:ext cx="3566159" cy="365760"/>
          </a:xfrm>
          <a:prstGeom prst="rect">
            <a:avLst/>
          </a:prstGeom>
          <a:noFill/>
        </p:spPr>
        <p:txBody>
          <a:bodyPr wrap="square">
            <a:spAutoFit/>
          </a:bodyPr>
          <a:lstStyle/>
          <a:p>
            <a:pPr algn="l"/>
            <a:r>
              <a:rPr sz="1300" b="1" i="0">
                <a:solidFill>
                  <a:srgbClr val="FFFFFF"/>
                </a:solidFill>
                <a:latin typeface="Calibri"/>
              </a:rPr>
              <a:t>🔔  Proactive Notifications</a:t>
            </a:r>
          </a:p>
        </p:txBody>
      </p:sp>
      <p:sp>
        <p:nvSpPr>
          <p:cNvPr id="22" name="TextBox 21"/>
          <p:cNvSpPr txBox="1"/>
          <p:nvPr/>
        </p:nvSpPr>
        <p:spPr>
          <a:xfrm>
            <a:off x="457200" y="4251959"/>
            <a:ext cx="3566159" cy="1691640"/>
          </a:xfrm>
          <a:prstGeom prst="rect">
            <a:avLst/>
          </a:prstGeom>
          <a:noFill/>
        </p:spPr>
        <p:txBody>
          <a:bodyPr wrap="square">
            <a:spAutoFit/>
          </a:bodyPr>
          <a:lstStyle/>
          <a:p>
            <a:pPr algn="l"/>
            <a:r>
              <a:rPr sz="1050" b="0" i="0">
                <a:solidFill>
                  <a:srgbClr val="1A2A35"/>
                </a:solidFill>
                <a:latin typeface="Calibri"/>
              </a:rPr>
              <a:t>Tasks due within 7 days surface as 'due this week' alerts in the chat header. Overdue tasks are automatically injected into the AI context so every chat response is action-aware — not just policy-aware.</a:t>
            </a:r>
          </a:p>
        </p:txBody>
      </p:sp>
      <p:sp>
        <p:nvSpPr>
          <p:cNvPr id="23" name="Rectangle 22"/>
          <p:cNvSpPr/>
          <p:nvPr/>
        </p:nvSpPr>
        <p:spPr>
          <a:xfrm>
            <a:off x="4251959" y="3703320"/>
            <a:ext cx="3749039" cy="2331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51959" y="3703320"/>
            <a:ext cx="3749039" cy="45720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20" y="3767328"/>
            <a:ext cx="3566159" cy="365760"/>
          </a:xfrm>
          <a:prstGeom prst="rect">
            <a:avLst/>
          </a:prstGeom>
          <a:noFill/>
        </p:spPr>
        <p:txBody>
          <a:bodyPr wrap="square">
            <a:spAutoFit/>
          </a:bodyPr>
          <a:lstStyle/>
          <a:p>
            <a:pPr algn="l"/>
            <a:r>
              <a:rPr sz="1300" b="1" i="0">
                <a:solidFill>
                  <a:srgbClr val="FFFFFF"/>
                </a:solidFill>
                <a:latin typeface="Calibri"/>
              </a:rPr>
              <a:t>🔒  Policy-Scoped Responses</a:t>
            </a:r>
          </a:p>
        </p:txBody>
      </p:sp>
      <p:sp>
        <p:nvSpPr>
          <p:cNvPr id="26" name="TextBox 25"/>
          <p:cNvSpPr txBox="1"/>
          <p:nvPr/>
        </p:nvSpPr>
        <p:spPr>
          <a:xfrm>
            <a:off x="4389120" y="4251959"/>
            <a:ext cx="3566159" cy="1691640"/>
          </a:xfrm>
          <a:prstGeom prst="rect">
            <a:avLst/>
          </a:prstGeom>
          <a:noFill/>
        </p:spPr>
        <p:txBody>
          <a:bodyPr wrap="square">
            <a:spAutoFit/>
          </a:bodyPr>
          <a:lstStyle/>
          <a:p>
            <a:pPr algn="l"/>
            <a:r>
              <a:rPr sz="1050" b="0" i="0">
                <a:solidFill>
                  <a:srgbClr val="1A2A35"/>
                </a:solidFill>
                <a:latin typeface="Calibri"/>
              </a:rPr>
              <a:t>The AI enforces assignment boundaries. An LTA expat cannot receive STA benefits guidance. Every answer is policy-scoped and explainable — reducing compliance risk and HR escalations.</a:t>
            </a:r>
          </a:p>
        </p:txBody>
      </p:sp>
      <p:sp>
        <p:nvSpPr>
          <p:cNvPr id="27" name="Rectangle 26"/>
          <p:cNvSpPr/>
          <p:nvPr/>
        </p:nvSpPr>
        <p:spPr>
          <a:xfrm>
            <a:off x="8183879" y="3703320"/>
            <a:ext cx="3749039" cy="2331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83879" y="3703320"/>
            <a:ext cx="3749039" cy="45720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40" y="3767328"/>
            <a:ext cx="3566159" cy="365760"/>
          </a:xfrm>
          <a:prstGeom prst="rect">
            <a:avLst/>
          </a:prstGeom>
          <a:noFill/>
        </p:spPr>
        <p:txBody>
          <a:bodyPr wrap="square">
            <a:spAutoFit/>
          </a:bodyPr>
          <a:lstStyle/>
          <a:p>
            <a:pPr algn="l"/>
            <a:r>
              <a:rPr sz="1300" b="1" i="0">
                <a:solidFill>
                  <a:srgbClr val="FFFFFF"/>
                </a:solidFill>
                <a:latin typeface="Calibri"/>
              </a:rPr>
              <a:t>⚡  Zero Infrastructure Demo</a:t>
            </a:r>
          </a:p>
        </p:txBody>
      </p:sp>
      <p:sp>
        <p:nvSpPr>
          <p:cNvPr id="30" name="TextBox 29"/>
          <p:cNvSpPr txBox="1"/>
          <p:nvPr/>
        </p:nvSpPr>
        <p:spPr>
          <a:xfrm>
            <a:off x="8321040" y="4251959"/>
            <a:ext cx="3566159" cy="1691640"/>
          </a:xfrm>
          <a:prstGeom prst="rect">
            <a:avLst/>
          </a:prstGeom>
          <a:noFill/>
        </p:spPr>
        <p:txBody>
          <a:bodyPr wrap="square">
            <a:spAutoFit/>
          </a:bodyPr>
          <a:lstStyle/>
          <a:p>
            <a:pPr algn="l"/>
            <a:r>
              <a:rPr sz="1050" b="0" i="0">
                <a:solidFill>
                  <a:srgbClr val="1A2A35"/>
                </a:solidFill>
                <a:latin typeface="Calibri"/>
              </a:rPr>
              <a:t>Fully standalone HTML file — no server, no install. Share with stakeholders as a single file. The AI backend uses GitHub Models (GPT-4o) via a secure per-user access code.</a:t>
            </a:r>
          </a:p>
        </p:txBody>
      </p:sp>
      <p:sp>
        <p:nvSpPr>
          <p:cNvPr id="31" name="Rectangle 30"/>
          <p:cNvSpPr/>
          <p:nvPr/>
        </p:nvSpPr>
        <p:spPr>
          <a:xfrm>
            <a:off x="0" y="6537960"/>
            <a:ext cx="12188952" cy="3200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0040" y="6565392"/>
            <a:ext cx="7315200" cy="256032"/>
          </a:xfrm>
          <a:prstGeom prst="rect">
            <a:avLst/>
          </a:prstGeom>
          <a:noFill/>
        </p:spPr>
        <p:txBody>
          <a:bodyPr wrap="square">
            <a:spAutoFit/>
          </a:bodyPr>
          <a:lstStyle/>
          <a:p>
            <a:pPr algn="l"/>
            <a:r>
              <a:rPr sz="900" b="0" i="0">
                <a:solidFill>
                  <a:srgbClr val="88A8B8"/>
                </a:solidFill>
                <a:latin typeface="Calibri"/>
              </a:rPr>
              <a:t>Expat Concierge V2.4  ·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6858000"/>
          </a:xfrm>
          <a:prstGeom prst="rect">
            <a:avLst/>
          </a:prstGeom>
          <a:solidFill>
            <a:srgbClr val="F2C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82880"/>
            <a:ext cx="9144000" cy="685800"/>
          </a:xfrm>
          <a:prstGeom prst="rect">
            <a:avLst/>
          </a:prstGeom>
          <a:noFill/>
        </p:spPr>
        <p:txBody>
          <a:bodyPr wrap="square">
            <a:spAutoFit/>
          </a:bodyPr>
          <a:lstStyle/>
          <a:p>
            <a:pPr algn="l"/>
            <a:r>
              <a:rPr sz="2400" b="1" i="0">
                <a:solidFill>
                  <a:srgbClr val="FFFFFF"/>
                </a:solidFill>
                <a:latin typeface="Calibri"/>
              </a:rPr>
              <a:t>How It Works — The Expat Experience</a:t>
            </a:r>
          </a:p>
        </p:txBody>
      </p:sp>
      <p:sp>
        <p:nvSpPr>
          <p:cNvPr id="6" name="TextBox 5"/>
          <p:cNvSpPr txBox="1"/>
          <p:nvPr/>
        </p:nvSpPr>
        <p:spPr>
          <a:xfrm>
            <a:off x="10515600" y="274320"/>
            <a:ext cx="1554480" cy="365760"/>
          </a:xfrm>
          <a:prstGeom prst="rect">
            <a:avLst/>
          </a:prstGeom>
          <a:noFill/>
        </p:spPr>
        <p:txBody>
          <a:bodyPr wrap="square">
            <a:spAutoFit/>
          </a:bodyPr>
          <a:lstStyle/>
          <a:p>
            <a:pPr algn="r"/>
            <a:r>
              <a:rPr sz="900" b="0" i="0">
                <a:solidFill>
                  <a:srgbClr val="88A8B8"/>
                </a:solidFill>
                <a:latin typeface="Calibri"/>
              </a:rPr>
              <a:t>SLIDE 4 OF 5</a:t>
            </a:r>
          </a:p>
        </p:txBody>
      </p:sp>
      <p:sp>
        <p:nvSpPr>
          <p:cNvPr id="7" name="Rectangle 6"/>
          <p:cNvSpPr/>
          <p:nvPr/>
        </p:nvSpPr>
        <p:spPr>
          <a:xfrm>
            <a:off x="914400" y="1188720"/>
            <a:ext cx="822960" cy="822960"/>
          </a:xfrm>
          <a:prstGeom prst="rect">
            <a:avLst/>
          </a:prstGeom>
          <a:solidFill>
            <a:srgbClr val="2D7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207008"/>
            <a:ext cx="822960" cy="786384"/>
          </a:xfrm>
          <a:prstGeom prst="rect">
            <a:avLst/>
          </a:prstGeom>
          <a:noFill/>
        </p:spPr>
        <p:txBody>
          <a:bodyPr wrap="square">
            <a:spAutoFit/>
          </a:bodyPr>
          <a:lstStyle/>
          <a:p>
            <a:pPr algn="ctr"/>
            <a:r>
              <a:rPr sz="2800" b="1" i="0">
                <a:solidFill>
                  <a:srgbClr val="FFFFFF"/>
                </a:solidFill>
                <a:latin typeface="Calibri"/>
              </a:rPr>
              <a:t>1</a:t>
            </a:r>
          </a:p>
        </p:txBody>
      </p:sp>
      <p:sp>
        <p:nvSpPr>
          <p:cNvPr id="9" name="TextBox 8"/>
          <p:cNvSpPr txBox="1"/>
          <p:nvPr/>
        </p:nvSpPr>
        <p:spPr>
          <a:xfrm>
            <a:off x="1783080" y="1417320"/>
            <a:ext cx="731520" cy="457200"/>
          </a:xfrm>
          <a:prstGeom prst="rect">
            <a:avLst/>
          </a:prstGeom>
          <a:noFill/>
        </p:spPr>
        <p:txBody>
          <a:bodyPr wrap="square">
            <a:spAutoFit/>
          </a:bodyPr>
          <a:lstStyle/>
          <a:p>
            <a:pPr algn="ctr"/>
            <a:r>
              <a:rPr sz="1800" b="1" i="0">
                <a:solidFill>
                  <a:srgbClr val="2D7A5E"/>
                </a:solidFill>
                <a:latin typeface="Calibri"/>
              </a:rPr>
              <a:t>→</a:t>
            </a:r>
          </a:p>
        </p:txBody>
      </p:sp>
      <p:sp>
        <p:nvSpPr>
          <p:cNvPr id="10" name="Rectangle 9"/>
          <p:cNvSpPr/>
          <p:nvPr/>
        </p:nvSpPr>
        <p:spPr>
          <a:xfrm>
            <a:off x="457200" y="2148840"/>
            <a:ext cx="2103120" cy="3108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148840"/>
            <a:ext cx="2103120" cy="411480"/>
          </a:xfrm>
          <a:prstGeom prst="rect">
            <a:avLst/>
          </a:prstGeom>
          <a:solidFill>
            <a:srgbClr val="2D7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176272"/>
            <a:ext cx="2011679" cy="384048"/>
          </a:xfrm>
          <a:prstGeom prst="rect">
            <a:avLst/>
          </a:prstGeom>
          <a:noFill/>
        </p:spPr>
        <p:txBody>
          <a:bodyPr wrap="square">
            <a:spAutoFit/>
          </a:bodyPr>
          <a:lstStyle/>
          <a:p>
            <a:pPr algn="ctr"/>
            <a:r>
              <a:rPr sz="1200" b="1" i="0">
                <a:solidFill>
                  <a:srgbClr val="FFFFFF"/>
                </a:solidFill>
                <a:latin typeface="Calibri"/>
              </a:rPr>
              <a:t>Profile
Loaded</a:t>
            </a:r>
          </a:p>
        </p:txBody>
      </p:sp>
      <p:sp>
        <p:nvSpPr>
          <p:cNvPr id="13" name="TextBox 12"/>
          <p:cNvSpPr txBox="1"/>
          <p:nvPr/>
        </p:nvSpPr>
        <p:spPr>
          <a:xfrm>
            <a:off x="548640" y="2651760"/>
            <a:ext cx="2011679" cy="2468880"/>
          </a:xfrm>
          <a:prstGeom prst="rect">
            <a:avLst/>
          </a:prstGeom>
          <a:noFill/>
        </p:spPr>
        <p:txBody>
          <a:bodyPr wrap="square">
            <a:spAutoFit/>
          </a:bodyPr>
          <a:lstStyle/>
          <a:p>
            <a:pPr algn="ctr"/>
            <a:r>
              <a:rPr sz="1100" b="0" i="0">
                <a:solidFill>
                  <a:srgbClr val="1A2A35"/>
                </a:solidFill>
                <a:latin typeface="Calibri"/>
              </a:rPr>
              <a:t>System knows the expat's assignment type, stage, family situation, host/home countries, and move date.</a:t>
            </a:r>
          </a:p>
        </p:txBody>
      </p:sp>
      <p:sp>
        <p:nvSpPr>
          <p:cNvPr id="14" name="Rectangle 13"/>
          <p:cNvSpPr/>
          <p:nvPr/>
        </p:nvSpPr>
        <p:spPr>
          <a:xfrm>
            <a:off x="3246120" y="1188720"/>
            <a:ext cx="822960" cy="8229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46120" y="1207008"/>
            <a:ext cx="822960" cy="786384"/>
          </a:xfrm>
          <a:prstGeom prst="rect">
            <a:avLst/>
          </a:prstGeom>
          <a:noFill/>
        </p:spPr>
        <p:txBody>
          <a:bodyPr wrap="square">
            <a:spAutoFit/>
          </a:bodyPr>
          <a:lstStyle/>
          <a:p>
            <a:pPr algn="ctr"/>
            <a:r>
              <a:rPr sz="2800" b="1" i="0">
                <a:solidFill>
                  <a:srgbClr val="FFFFFF"/>
                </a:solidFill>
                <a:latin typeface="Calibri"/>
              </a:rPr>
              <a:t>2</a:t>
            </a:r>
          </a:p>
        </p:txBody>
      </p:sp>
      <p:sp>
        <p:nvSpPr>
          <p:cNvPr id="16" name="TextBox 15"/>
          <p:cNvSpPr txBox="1"/>
          <p:nvPr/>
        </p:nvSpPr>
        <p:spPr>
          <a:xfrm>
            <a:off x="4114800" y="1417320"/>
            <a:ext cx="731520" cy="457200"/>
          </a:xfrm>
          <a:prstGeom prst="rect">
            <a:avLst/>
          </a:prstGeom>
          <a:noFill/>
        </p:spPr>
        <p:txBody>
          <a:bodyPr wrap="square">
            <a:spAutoFit/>
          </a:bodyPr>
          <a:lstStyle/>
          <a:p>
            <a:pPr algn="ctr"/>
            <a:r>
              <a:rPr sz="1800" b="1" i="0">
                <a:solidFill>
                  <a:srgbClr val="2D7A5E"/>
                </a:solidFill>
                <a:latin typeface="Calibri"/>
              </a:rPr>
              <a:t>→</a:t>
            </a:r>
          </a:p>
        </p:txBody>
      </p:sp>
      <p:sp>
        <p:nvSpPr>
          <p:cNvPr id="17" name="Rectangle 16"/>
          <p:cNvSpPr/>
          <p:nvPr/>
        </p:nvSpPr>
        <p:spPr>
          <a:xfrm>
            <a:off x="2788920" y="2148840"/>
            <a:ext cx="2103120" cy="3108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88920" y="2148840"/>
            <a:ext cx="2103120" cy="41148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80359" y="2176272"/>
            <a:ext cx="2011679" cy="384048"/>
          </a:xfrm>
          <a:prstGeom prst="rect">
            <a:avLst/>
          </a:prstGeom>
          <a:noFill/>
        </p:spPr>
        <p:txBody>
          <a:bodyPr wrap="square">
            <a:spAutoFit/>
          </a:bodyPr>
          <a:lstStyle/>
          <a:p>
            <a:pPr algn="ctr"/>
            <a:r>
              <a:rPr sz="1200" b="1" i="0">
                <a:solidFill>
                  <a:srgbClr val="FFFFFF"/>
                </a:solidFill>
                <a:latin typeface="Calibri"/>
              </a:rPr>
              <a:t>Personalised
Welcome</a:t>
            </a:r>
          </a:p>
        </p:txBody>
      </p:sp>
      <p:sp>
        <p:nvSpPr>
          <p:cNvPr id="20" name="TextBox 19"/>
          <p:cNvSpPr txBox="1"/>
          <p:nvPr/>
        </p:nvSpPr>
        <p:spPr>
          <a:xfrm>
            <a:off x="2880359" y="2651760"/>
            <a:ext cx="2011679" cy="2468880"/>
          </a:xfrm>
          <a:prstGeom prst="rect">
            <a:avLst/>
          </a:prstGeom>
          <a:noFill/>
        </p:spPr>
        <p:txBody>
          <a:bodyPr wrap="square">
            <a:spAutoFit/>
          </a:bodyPr>
          <a:lstStyle/>
          <a:p>
            <a:pPr algn="ctr"/>
            <a:r>
              <a:rPr sz="1100" b="0" i="0">
                <a:solidFill>
                  <a:srgbClr val="1A2A35"/>
                </a:solidFill>
                <a:latin typeface="Calibri"/>
              </a:rPr>
              <a:t>Chat opens with suggested questions based on the expat's profile — visa, housing, schooling, tax.</a:t>
            </a:r>
          </a:p>
        </p:txBody>
      </p:sp>
      <p:sp>
        <p:nvSpPr>
          <p:cNvPr id="21" name="Rectangle 20"/>
          <p:cNvSpPr/>
          <p:nvPr/>
        </p:nvSpPr>
        <p:spPr>
          <a:xfrm>
            <a:off x="5577840" y="1188720"/>
            <a:ext cx="822960" cy="82296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77840" y="1207008"/>
            <a:ext cx="822960" cy="786384"/>
          </a:xfrm>
          <a:prstGeom prst="rect">
            <a:avLst/>
          </a:prstGeom>
          <a:noFill/>
        </p:spPr>
        <p:txBody>
          <a:bodyPr wrap="square">
            <a:spAutoFit/>
          </a:bodyPr>
          <a:lstStyle/>
          <a:p>
            <a:pPr algn="ctr"/>
            <a:r>
              <a:rPr sz="2800" b="1" i="0">
                <a:solidFill>
                  <a:srgbClr val="FFFFFF"/>
                </a:solidFill>
                <a:latin typeface="Calibri"/>
              </a:rPr>
              <a:t>3</a:t>
            </a:r>
          </a:p>
        </p:txBody>
      </p:sp>
      <p:sp>
        <p:nvSpPr>
          <p:cNvPr id="23" name="TextBox 22"/>
          <p:cNvSpPr txBox="1"/>
          <p:nvPr/>
        </p:nvSpPr>
        <p:spPr>
          <a:xfrm>
            <a:off x="6446519" y="1417320"/>
            <a:ext cx="731520" cy="457200"/>
          </a:xfrm>
          <a:prstGeom prst="rect">
            <a:avLst/>
          </a:prstGeom>
          <a:noFill/>
        </p:spPr>
        <p:txBody>
          <a:bodyPr wrap="square">
            <a:spAutoFit/>
          </a:bodyPr>
          <a:lstStyle/>
          <a:p>
            <a:pPr algn="ctr"/>
            <a:r>
              <a:rPr sz="1800" b="1" i="0">
                <a:solidFill>
                  <a:srgbClr val="2D7A5E"/>
                </a:solidFill>
                <a:latin typeface="Calibri"/>
              </a:rPr>
              <a:t>→</a:t>
            </a:r>
          </a:p>
        </p:txBody>
      </p:sp>
      <p:sp>
        <p:nvSpPr>
          <p:cNvPr id="24" name="Rectangle 23"/>
          <p:cNvSpPr/>
          <p:nvPr/>
        </p:nvSpPr>
        <p:spPr>
          <a:xfrm>
            <a:off x="5120640" y="2148840"/>
            <a:ext cx="2103120" cy="3108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20640" y="2148840"/>
            <a:ext cx="2103120" cy="41148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12079" y="2176272"/>
            <a:ext cx="2011679" cy="384048"/>
          </a:xfrm>
          <a:prstGeom prst="rect">
            <a:avLst/>
          </a:prstGeom>
          <a:noFill/>
        </p:spPr>
        <p:txBody>
          <a:bodyPr wrap="square">
            <a:spAutoFit/>
          </a:bodyPr>
          <a:lstStyle/>
          <a:p>
            <a:pPr algn="ctr"/>
            <a:r>
              <a:rPr sz="1200" b="1" i="0">
                <a:solidFill>
                  <a:srgbClr val="FFFFFF"/>
                </a:solidFill>
                <a:latin typeface="Calibri"/>
              </a:rPr>
              <a:t>AI Answers
Instantly</a:t>
            </a:r>
          </a:p>
        </p:txBody>
      </p:sp>
      <p:sp>
        <p:nvSpPr>
          <p:cNvPr id="27" name="TextBox 26"/>
          <p:cNvSpPr txBox="1"/>
          <p:nvPr/>
        </p:nvSpPr>
        <p:spPr>
          <a:xfrm>
            <a:off x="5212079" y="2651760"/>
            <a:ext cx="2011679" cy="2468880"/>
          </a:xfrm>
          <a:prstGeom prst="rect">
            <a:avLst/>
          </a:prstGeom>
          <a:noFill/>
        </p:spPr>
        <p:txBody>
          <a:bodyPr wrap="square">
            <a:spAutoFit/>
          </a:bodyPr>
          <a:lstStyle/>
          <a:p>
            <a:pPr algn="ctr"/>
            <a:r>
              <a:rPr sz="1100" b="0" i="0">
                <a:solidFill>
                  <a:srgbClr val="1A2A35"/>
                </a:solidFill>
                <a:latin typeface="Calibri"/>
              </a:rPr>
              <a:t>Expat asks any question. GPT-4o responds with policy-scoped guidance, personalised to their assignment.</a:t>
            </a:r>
          </a:p>
        </p:txBody>
      </p:sp>
      <p:sp>
        <p:nvSpPr>
          <p:cNvPr id="28" name="Rectangle 27"/>
          <p:cNvSpPr/>
          <p:nvPr/>
        </p:nvSpPr>
        <p:spPr>
          <a:xfrm>
            <a:off x="7909559" y="1188720"/>
            <a:ext cx="822960" cy="82296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09559" y="1207008"/>
            <a:ext cx="822960" cy="786384"/>
          </a:xfrm>
          <a:prstGeom prst="rect">
            <a:avLst/>
          </a:prstGeom>
          <a:noFill/>
        </p:spPr>
        <p:txBody>
          <a:bodyPr wrap="square">
            <a:spAutoFit/>
          </a:bodyPr>
          <a:lstStyle/>
          <a:p>
            <a:pPr algn="ctr"/>
            <a:r>
              <a:rPr sz="2800" b="1" i="0">
                <a:solidFill>
                  <a:srgbClr val="FFFFFF"/>
                </a:solidFill>
                <a:latin typeface="Calibri"/>
              </a:rPr>
              <a:t>4</a:t>
            </a:r>
          </a:p>
        </p:txBody>
      </p:sp>
      <p:sp>
        <p:nvSpPr>
          <p:cNvPr id="30" name="TextBox 29"/>
          <p:cNvSpPr txBox="1"/>
          <p:nvPr/>
        </p:nvSpPr>
        <p:spPr>
          <a:xfrm>
            <a:off x="8778240" y="1417320"/>
            <a:ext cx="731520" cy="457200"/>
          </a:xfrm>
          <a:prstGeom prst="rect">
            <a:avLst/>
          </a:prstGeom>
          <a:noFill/>
        </p:spPr>
        <p:txBody>
          <a:bodyPr wrap="square">
            <a:spAutoFit/>
          </a:bodyPr>
          <a:lstStyle/>
          <a:p>
            <a:pPr algn="ctr"/>
            <a:r>
              <a:rPr sz="1800" b="1" i="0">
                <a:solidFill>
                  <a:srgbClr val="2D7A5E"/>
                </a:solidFill>
                <a:latin typeface="Calibri"/>
              </a:rPr>
              <a:t>→</a:t>
            </a:r>
          </a:p>
        </p:txBody>
      </p:sp>
      <p:sp>
        <p:nvSpPr>
          <p:cNvPr id="31" name="Rectangle 30"/>
          <p:cNvSpPr/>
          <p:nvPr/>
        </p:nvSpPr>
        <p:spPr>
          <a:xfrm>
            <a:off x="7452359" y="2148840"/>
            <a:ext cx="2103120" cy="3108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52359" y="2148840"/>
            <a:ext cx="2103120" cy="41148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543800" y="2176272"/>
            <a:ext cx="2011679" cy="384048"/>
          </a:xfrm>
          <a:prstGeom prst="rect">
            <a:avLst/>
          </a:prstGeom>
          <a:noFill/>
        </p:spPr>
        <p:txBody>
          <a:bodyPr wrap="square">
            <a:spAutoFit/>
          </a:bodyPr>
          <a:lstStyle/>
          <a:p>
            <a:pPr algn="ctr"/>
            <a:r>
              <a:rPr sz="1200" b="1" i="0">
                <a:solidFill>
                  <a:srgbClr val="FFFFFF"/>
                </a:solidFill>
                <a:latin typeface="Calibri"/>
              </a:rPr>
              <a:t>Action Log
Tracked</a:t>
            </a:r>
          </a:p>
        </p:txBody>
      </p:sp>
      <p:sp>
        <p:nvSpPr>
          <p:cNvPr id="34" name="TextBox 33"/>
          <p:cNvSpPr txBox="1"/>
          <p:nvPr/>
        </p:nvSpPr>
        <p:spPr>
          <a:xfrm>
            <a:off x="7543800" y="2651760"/>
            <a:ext cx="2011679" cy="2468880"/>
          </a:xfrm>
          <a:prstGeom prst="rect">
            <a:avLst/>
          </a:prstGeom>
          <a:noFill/>
        </p:spPr>
        <p:txBody>
          <a:bodyPr wrap="square">
            <a:spAutoFit/>
          </a:bodyPr>
          <a:lstStyle/>
          <a:p>
            <a:pPr algn="ctr"/>
            <a:r>
              <a:rPr sz="1100" b="0" i="0">
                <a:solidFill>
                  <a:srgbClr val="1A2A35"/>
                </a:solidFill>
                <a:latin typeface="Calibri"/>
              </a:rPr>
              <a:t>Every open task is visible with deadline, owner, and status. Overdue items appear in the chat context.</a:t>
            </a:r>
          </a:p>
        </p:txBody>
      </p:sp>
      <p:sp>
        <p:nvSpPr>
          <p:cNvPr id="35" name="Rectangle 34"/>
          <p:cNvSpPr/>
          <p:nvPr/>
        </p:nvSpPr>
        <p:spPr>
          <a:xfrm>
            <a:off x="10241280" y="1188720"/>
            <a:ext cx="822960" cy="82296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41280" y="1207008"/>
            <a:ext cx="822960" cy="786384"/>
          </a:xfrm>
          <a:prstGeom prst="rect">
            <a:avLst/>
          </a:prstGeom>
          <a:noFill/>
        </p:spPr>
        <p:txBody>
          <a:bodyPr wrap="square">
            <a:spAutoFit/>
          </a:bodyPr>
          <a:lstStyle/>
          <a:p>
            <a:pPr algn="ctr"/>
            <a:r>
              <a:rPr sz="2800" b="1" i="0">
                <a:solidFill>
                  <a:srgbClr val="FFFFFF"/>
                </a:solidFill>
                <a:latin typeface="Calibri"/>
              </a:rPr>
              <a:t>5</a:t>
            </a:r>
          </a:p>
        </p:txBody>
      </p:sp>
      <p:sp>
        <p:nvSpPr>
          <p:cNvPr id="37" name="Rectangle 36"/>
          <p:cNvSpPr/>
          <p:nvPr/>
        </p:nvSpPr>
        <p:spPr>
          <a:xfrm>
            <a:off x="9784080" y="2148840"/>
            <a:ext cx="2103120" cy="3108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784080" y="2148840"/>
            <a:ext cx="2103120" cy="41148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875520" y="2176272"/>
            <a:ext cx="2011679" cy="384048"/>
          </a:xfrm>
          <a:prstGeom prst="rect">
            <a:avLst/>
          </a:prstGeom>
          <a:noFill/>
        </p:spPr>
        <p:txBody>
          <a:bodyPr wrap="square">
            <a:spAutoFit/>
          </a:bodyPr>
          <a:lstStyle/>
          <a:p>
            <a:pPr algn="ctr"/>
            <a:r>
              <a:rPr sz="1200" b="1" i="0">
                <a:solidFill>
                  <a:srgbClr val="FFFFFF"/>
                </a:solidFill>
                <a:latin typeface="Calibri"/>
              </a:rPr>
              <a:t>HR Has Full
Visibility</a:t>
            </a:r>
          </a:p>
        </p:txBody>
      </p:sp>
      <p:sp>
        <p:nvSpPr>
          <p:cNvPr id="40" name="TextBox 39"/>
          <p:cNvSpPr txBox="1"/>
          <p:nvPr/>
        </p:nvSpPr>
        <p:spPr>
          <a:xfrm>
            <a:off x="9875520" y="2651760"/>
            <a:ext cx="2011679" cy="2468880"/>
          </a:xfrm>
          <a:prstGeom prst="rect">
            <a:avLst/>
          </a:prstGeom>
          <a:noFill/>
        </p:spPr>
        <p:txBody>
          <a:bodyPr wrap="square">
            <a:spAutoFit/>
          </a:bodyPr>
          <a:lstStyle/>
          <a:p>
            <a:pPr algn="ctr"/>
            <a:r>
              <a:rPr sz="1100" b="0" i="0">
                <a:solidFill>
                  <a:srgbClr val="1A2A35"/>
                </a:solidFill>
                <a:latin typeface="Calibri"/>
              </a:rPr>
              <a:t>GM team sees all expat profiles, action stats, and can simulate any user to understand their experience.</a:t>
            </a:r>
          </a:p>
        </p:txBody>
      </p:sp>
      <p:sp>
        <p:nvSpPr>
          <p:cNvPr id="41" name="Rectangle 40"/>
          <p:cNvSpPr/>
          <p:nvPr/>
        </p:nvSpPr>
        <p:spPr>
          <a:xfrm>
            <a:off x="0" y="6537960"/>
            <a:ext cx="12188952" cy="3200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0040" y="6565392"/>
            <a:ext cx="7315200" cy="256032"/>
          </a:xfrm>
          <a:prstGeom prst="rect">
            <a:avLst/>
          </a:prstGeom>
          <a:noFill/>
        </p:spPr>
        <p:txBody>
          <a:bodyPr wrap="square">
            <a:spAutoFit/>
          </a:bodyPr>
          <a:lstStyle/>
          <a:p>
            <a:pPr algn="l"/>
            <a:r>
              <a:rPr sz="900" b="0" i="0">
                <a:solidFill>
                  <a:srgbClr val="88A8B8"/>
                </a:solidFill>
                <a:latin typeface="Calibri"/>
              </a:rPr>
              <a:t>Expat Concierge V2.4  ·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F2C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046720" y="0"/>
            <a:ext cx="4142232" cy="6858000"/>
          </a:xfrm>
          <a:prstGeom prst="rect">
            <a:avLst/>
          </a:prstGeom>
          <a:solidFill>
            <a:srgbClr val="2D7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274320"/>
            <a:ext cx="7315200" cy="685800"/>
          </a:xfrm>
          <a:prstGeom prst="rect">
            <a:avLst/>
          </a:prstGeom>
          <a:noFill/>
        </p:spPr>
        <p:txBody>
          <a:bodyPr wrap="square">
            <a:spAutoFit/>
          </a:bodyPr>
          <a:lstStyle/>
          <a:p>
            <a:pPr algn="l"/>
            <a:r>
              <a:rPr sz="2400" b="1" i="0">
                <a:solidFill>
                  <a:srgbClr val="FFFFFF"/>
                </a:solidFill>
                <a:latin typeface="Calibri"/>
              </a:rPr>
              <a:t>Executive Summary</a:t>
            </a:r>
          </a:p>
        </p:txBody>
      </p:sp>
      <p:sp>
        <p:nvSpPr>
          <p:cNvPr id="6" name="TextBox 5"/>
          <p:cNvSpPr txBox="1"/>
          <p:nvPr/>
        </p:nvSpPr>
        <p:spPr>
          <a:xfrm>
            <a:off x="5943600" y="347472"/>
            <a:ext cx="1828800" cy="365760"/>
          </a:xfrm>
          <a:prstGeom prst="rect">
            <a:avLst/>
          </a:prstGeom>
          <a:noFill/>
        </p:spPr>
        <p:txBody>
          <a:bodyPr wrap="square">
            <a:spAutoFit/>
          </a:bodyPr>
          <a:lstStyle/>
          <a:p>
            <a:pPr algn="r"/>
            <a:r>
              <a:rPr sz="900" b="0" i="0">
                <a:solidFill>
                  <a:srgbClr val="88A8B8"/>
                </a:solidFill>
                <a:latin typeface="Calibri"/>
              </a:rPr>
              <a:t>SLIDE 5 OF 5</a:t>
            </a:r>
          </a:p>
        </p:txBody>
      </p:sp>
      <p:sp>
        <p:nvSpPr>
          <p:cNvPr id="7" name="Rectangle 6"/>
          <p:cNvSpPr/>
          <p:nvPr/>
        </p:nvSpPr>
        <p:spPr>
          <a:xfrm>
            <a:off x="320040" y="1097280"/>
            <a:ext cx="54864" cy="777240"/>
          </a:xfrm>
          <a:prstGeom prst="rect">
            <a:avLst/>
          </a:prstGeom>
          <a:solidFill>
            <a:srgbClr val="F2C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78992"/>
            <a:ext cx="7132320" cy="347472"/>
          </a:xfrm>
          <a:prstGeom prst="rect">
            <a:avLst/>
          </a:prstGeom>
          <a:noFill/>
        </p:spPr>
        <p:txBody>
          <a:bodyPr wrap="square">
            <a:spAutoFit/>
          </a:bodyPr>
          <a:lstStyle/>
          <a:p>
            <a:pPr algn="l"/>
            <a:r>
              <a:rPr sz="1400" b="1" i="0">
                <a:solidFill>
                  <a:srgbClr val="FFFFFF"/>
                </a:solidFill>
                <a:latin typeface="Calibri"/>
              </a:rPr>
              <a:t>Reduce HR workload</a:t>
            </a:r>
          </a:p>
        </p:txBody>
      </p:sp>
      <p:sp>
        <p:nvSpPr>
          <p:cNvPr id="9" name="TextBox 8"/>
          <p:cNvSpPr txBox="1"/>
          <p:nvPr/>
        </p:nvSpPr>
        <p:spPr>
          <a:xfrm>
            <a:off x="548640" y="1417319"/>
            <a:ext cx="7132320" cy="594360"/>
          </a:xfrm>
          <a:prstGeom prst="rect">
            <a:avLst/>
          </a:prstGeom>
          <a:noFill/>
        </p:spPr>
        <p:txBody>
          <a:bodyPr wrap="square">
            <a:spAutoFit/>
          </a:bodyPr>
          <a:lstStyle/>
          <a:p>
            <a:pPr algn="l"/>
            <a:r>
              <a:rPr sz="1200" b="0" i="0">
                <a:solidFill>
                  <a:srgbClr val="B0C8D8"/>
                </a:solidFill>
                <a:latin typeface="Calibri"/>
              </a:rPr>
              <a:t>Routine relocation Q&amp;A is handled autonomously — no emails, no calls, instant answers at any hour.</a:t>
            </a:r>
          </a:p>
        </p:txBody>
      </p:sp>
      <p:sp>
        <p:nvSpPr>
          <p:cNvPr id="10" name="Rectangle 9"/>
          <p:cNvSpPr/>
          <p:nvPr/>
        </p:nvSpPr>
        <p:spPr>
          <a:xfrm>
            <a:off x="320040" y="2331720"/>
            <a:ext cx="54864" cy="777240"/>
          </a:xfrm>
          <a:prstGeom prst="rect">
            <a:avLst/>
          </a:prstGeom>
          <a:solidFill>
            <a:srgbClr val="F2C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13432"/>
            <a:ext cx="7132320" cy="347472"/>
          </a:xfrm>
          <a:prstGeom prst="rect">
            <a:avLst/>
          </a:prstGeom>
          <a:noFill/>
        </p:spPr>
        <p:txBody>
          <a:bodyPr wrap="square">
            <a:spAutoFit/>
          </a:bodyPr>
          <a:lstStyle/>
          <a:p>
            <a:pPr algn="l"/>
            <a:r>
              <a:rPr sz="1400" b="1" i="0">
                <a:solidFill>
                  <a:srgbClr val="FFFFFF"/>
                </a:solidFill>
                <a:latin typeface="Calibri"/>
              </a:rPr>
              <a:t>Improve expat experience</a:t>
            </a:r>
          </a:p>
        </p:txBody>
      </p:sp>
      <p:sp>
        <p:nvSpPr>
          <p:cNvPr id="12" name="TextBox 11"/>
          <p:cNvSpPr txBox="1"/>
          <p:nvPr/>
        </p:nvSpPr>
        <p:spPr>
          <a:xfrm>
            <a:off x="548640" y="2651760"/>
            <a:ext cx="7132320" cy="594360"/>
          </a:xfrm>
          <a:prstGeom prst="rect">
            <a:avLst/>
          </a:prstGeom>
          <a:noFill/>
        </p:spPr>
        <p:txBody>
          <a:bodyPr wrap="square">
            <a:spAutoFit/>
          </a:bodyPr>
          <a:lstStyle/>
          <a:p>
            <a:pPr algn="l"/>
            <a:r>
              <a:rPr sz="1200" b="0" i="0">
                <a:solidFill>
                  <a:srgbClr val="B0C8D8"/>
                </a:solidFill>
                <a:latin typeface="Calibri"/>
              </a:rPr>
              <a:t>Expats get personalised, policy-accurate guidance from day one, reducing anxiety and assignment drop-outs.</a:t>
            </a:r>
          </a:p>
        </p:txBody>
      </p:sp>
      <p:sp>
        <p:nvSpPr>
          <p:cNvPr id="13" name="Rectangle 12"/>
          <p:cNvSpPr/>
          <p:nvPr/>
        </p:nvSpPr>
        <p:spPr>
          <a:xfrm>
            <a:off x="320040" y="3566160"/>
            <a:ext cx="54864" cy="777240"/>
          </a:xfrm>
          <a:prstGeom prst="rect">
            <a:avLst/>
          </a:prstGeom>
          <a:solidFill>
            <a:srgbClr val="F2C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547872"/>
            <a:ext cx="7132320" cy="347472"/>
          </a:xfrm>
          <a:prstGeom prst="rect">
            <a:avLst/>
          </a:prstGeom>
          <a:noFill/>
        </p:spPr>
        <p:txBody>
          <a:bodyPr wrap="square">
            <a:spAutoFit/>
          </a:bodyPr>
          <a:lstStyle/>
          <a:p>
            <a:pPr algn="l"/>
            <a:r>
              <a:rPr sz="1400" b="1" i="0">
                <a:solidFill>
                  <a:srgbClr val="FFFFFF"/>
                </a:solidFill>
                <a:latin typeface="Calibri"/>
              </a:rPr>
              <a:t>Ensure compliance</a:t>
            </a:r>
          </a:p>
        </p:txBody>
      </p:sp>
      <p:sp>
        <p:nvSpPr>
          <p:cNvPr id="15" name="TextBox 14"/>
          <p:cNvSpPr txBox="1"/>
          <p:nvPr/>
        </p:nvSpPr>
        <p:spPr>
          <a:xfrm>
            <a:off x="548640" y="3886200"/>
            <a:ext cx="7132320" cy="594360"/>
          </a:xfrm>
          <a:prstGeom prst="rect">
            <a:avLst/>
          </a:prstGeom>
          <a:noFill/>
        </p:spPr>
        <p:txBody>
          <a:bodyPr wrap="square">
            <a:spAutoFit/>
          </a:bodyPr>
          <a:lstStyle/>
          <a:p>
            <a:pPr algn="l"/>
            <a:r>
              <a:rPr sz="1200" b="0" i="0">
                <a:solidFill>
                  <a:srgbClr val="B0C8D8"/>
                </a:solidFill>
                <a:latin typeface="Calibri"/>
              </a:rPr>
              <a:t>Every response is bounded by assignment policy. Expats cannot receive out-of-scope benefit information.</a:t>
            </a:r>
          </a:p>
        </p:txBody>
      </p:sp>
      <p:sp>
        <p:nvSpPr>
          <p:cNvPr id="16" name="Rectangle 15"/>
          <p:cNvSpPr/>
          <p:nvPr/>
        </p:nvSpPr>
        <p:spPr>
          <a:xfrm>
            <a:off x="320040" y="4800600"/>
            <a:ext cx="54864" cy="777240"/>
          </a:xfrm>
          <a:prstGeom prst="rect">
            <a:avLst/>
          </a:prstGeom>
          <a:solidFill>
            <a:srgbClr val="F2C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782312"/>
            <a:ext cx="7132320" cy="347472"/>
          </a:xfrm>
          <a:prstGeom prst="rect">
            <a:avLst/>
          </a:prstGeom>
          <a:noFill/>
        </p:spPr>
        <p:txBody>
          <a:bodyPr wrap="square">
            <a:spAutoFit/>
          </a:bodyPr>
          <a:lstStyle/>
          <a:p>
            <a:pPr algn="l"/>
            <a:r>
              <a:rPr sz="1400" b="1" i="0">
                <a:solidFill>
                  <a:srgbClr val="FFFFFF"/>
                </a:solidFill>
                <a:latin typeface="Calibri"/>
              </a:rPr>
              <a:t>Visibility &amp; accountability</a:t>
            </a:r>
          </a:p>
        </p:txBody>
      </p:sp>
      <p:sp>
        <p:nvSpPr>
          <p:cNvPr id="18" name="TextBox 17"/>
          <p:cNvSpPr txBox="1"/>
          <p:nvPr/>
        </p:nvSpPr>
        <p:spPr>
          <a:xfrm>
            <a:off x="548640" y="5120640"/>
            <a:ext cx="7132320" cy="594360"/>
          </a:xfrm>
          <a:prstGeom prst="rect">
            <a:avLst/>
          </a:prstGeom>
          <a:noFill/>
        </p:spPr>
        <p:txBody>
          <a:bodyPr wrap="square">
            <a:spAutoFit/>
          </a:bodyPr>
          <a:lstStyle/>
          <a:p>
            <a:pPr algn="l"/>
            <a:r>
              <a:rPr sz="1200" b="0" i="0">
                <a:solidFill>
                  <a:srgbClr val="B0C8D8"/>
                </a:solidFill>
                <a:latin typeface="Calibri"/>
              </a:rPr>
              <a:t>Full action tracking with owners and deadlines. Nothing falls through the cracks. HR has real-time status.</a:t>
            </a:r>
          </a:p>
        </p:txBody>
      </p:sp>
      <p:sp>
        <p:nvSpPr>
          <p:cNvPr id="19" name="TextBox 18"/>
          <p:cNvSpPr txBox="1"/>
          <p:nvPr/>
        </p:nvSpPr>
        <p:spPr>
          <a:xfrm>
            <a:off x="8229600" y="502920"/>
            <a:ext cx="3749039" cy="502920"/>
          </a:xfrm>
          <a:prstGeom prst="rect">
            <a:avLst/>
          </a:prstGeom>
          <a:noFill/>
        </p:spPr>
        <p:txBody>
          <a:bodyPr wrap="square">
            <a:spAutoFit/>
          </a:bodyPr>
          <a:lstStyle/>
          <a:p>
            <a:pPr algn="l"/>
            <a:r>
              <a:rPr sz="1600" b="1" i="0">
                <a:solidFill>
                  <a:srgbClr val="F2C100"/>
                </a:solidFill>
                <a:latin typeface="Calibri"/>
              </a:rPr>
              <a:t>Next Steps</a:t>
            </a:r>
          </a:p>
        </p:txBody>
      </p:sp>
      <p:sp>
        <p:nvSpPr>
          <p:cNvPr id="20" name="TextBox 19"/>
          <p:cNvSpPr txBox="1"/>
          <p:nvPr/>
        </p:nvSpPr>
        <p:spPr>
          <a:xfrm>
            <a:off x="8229600" y="1097280"/>
            <a:ext cx="365760" cy="640080"/>
          </a:xfrm>
          <a:prstGeom prst="rect">
            <a:avLst/>
          </a:prstGeom>
          <a:noFill/>
        </p:spPr>
        <p:txBody>
          <a:bodyPr wrap="square">
            <a:spAutoFit/>
          </a:bodyPr>
          <a:lstStyle/>
          <a:p>
            <a:pPr algn="l"/>
            <a:r>
              <a:rPr sz="1400" b="1" i="0">
                <a:solidFill>
                  <a:srgbClr val="F2C100"/>
                </a:solidFill>
                <a:latin typeface="Calibri"/>
              </a:rPr>
              <a:t>✦</a:t>
            </a:r>
          </a:p>
        </p:txBody>
      </p:sp>
      <p:sp>
        <p:nvSpPr>
          <p:cNvPr id="21" name="TextBox 20"/>
          <p:cNvSpPr txBox="1"/>
          <p:nvPr/>
        </p:nvSpPr>
        <p:spPr>
          <a:xfrm>
            <a:off x="8641080" y="1097280"/>
            <a:ext cx="3291840" cy="731520"/>
          </a:xfrm>
          <a:prstGeom prst="rect">
            <a:avLst/>
          </a:prstGeom>
          <a:noFill/>
        </p:spPr>
        <p:txBody>
          <a:bodyPr wrap="square">
            <a:spAutoFit/>
          </a:bodyPr>
          <a:lstStyle/>
          <a:p>
            <a:pPr algn="l"/>
            <a:r>
              <a:rPr sz="1150" b="0" i="0">
                <a:solidFill>
                  <a:srgbClr val="FFFFFF"/>
                </a:solidFill>
                <a:latin typeface="Calibri"/>
              </a:rPr>
              <a:t>Live demo walkthrough
with your GM team</a:t>
            </a:r>
          </a:p>
        </p:txBody>
      </p:sp>
      <p:sp>
        <p:nvSpPr>
          <p:cNvPr id="22" name="TextBox 21"/>
          <p:cNvSpPr txBox="1"/>
          <p:nvPr/>
        </p:nvSpPr>
        <p:spPr>
          <a:xfrm>
            <a:off x="8229600" y="2103120"/>
            <a:ext cx="365760" cy="640080"/>
          </a:xfrm>
          <a:prstGeom prst="rect">
            <a:avLst/>
          </a:prstGeom>
          <a:noFill/>
        </p:spPr>
        <p:txBody>
          <a:bodyPr wrap="square">
            <a:spAutoFit/>
          </a:bodyPr>
          <a:lstStyle/>
          <a:p>
            <a:pPr algn="l"/>
            <a:r>
              <a:rPr sz="1400" b="1" i="0">
                <a:solidFill>
                  <a:srgbClr val="F2C100"/>
                </a:solidFill>
                <a:latin typeface="Calibri"/>
              </a:rPr>
              <a:t>✦</a:t>
            </a:r>
          </a:p>
        </p:txBody>
      </p:sp>
      <p:sp>
        <p:nvSpPr>
          <p:cNvPr id="23" name="TextBox 22"/>
          <p:cNvSpPr txBox="1"/>
          <p:nvPr/>
        </p:nvSpPr>
        <p:spPr>
          <a:xfrm>
            <a:off x="8641080" y="2103120"/>
            <a:ext cx="3291840" cy="731520"/>
          </a:xfrm>
          <a:prstGeom prst="rect">
            <a:avLst/>
          </a:prstGeom>
          <a:noFill/>
        </p:spPr>
        <p:txBody>
          <a:bodyPr wrap="square">
            <a:spAutoFit/>
          </a:bodyPr>
          <a:lstStyle/>
          <a:p>
            <a:pPr algn="l"/>
            <a:r>
              <a:rPr sz="1150" b="0" i="0">
                <a:solidFill>
                  <a:srgbClr val="FFFFFF"/>
                </a:solidFill>
                <a:latin typeface="Calibri"/>
              </a:rPr>
              <a:t>Map your policy
documents to the AI</a:t>
            </a:r>
          </a:p>
        </p:txBody>
      </p:sp>
      <p:sp>
        <p:nvSpPr>
          <p:cNvPr id="24" name="TextBox 23"/>
          <p:cNvSpPr txBox="1"/>
          <p:nvPr/>
        </p:nvSpPr>
        <p:spPr>
          <a:xfrm>
            <a:off x="8229600" y="3108960"/>
            <a:ext cx="365760" cy="640080"/>
          </a:xfrm>
          <a:prstGeom prst="rect">
            <a:avLst/>
          </a:prstGeom>
          <a:noFill/>
        </p:spPr>
        <p:txBody>
          <a:bodyPr wrap="square">
            <a:spAutoFit/>
          </a:bodyPr>
          <a:lstStyle/>
          <a:p>
            <a:pPr algn="l"/>
            <a:r>
              <a:rPr sz="1400" b="1" i="0">
                <a:solidFill>
                  <a:srgbClr val="F2C100"/>
                </a:solidFill>
                <a:latin typeface="Calibri"/>
              </a:rPr>
              <a:t>✦</a:t>
            </a:r>
          </a:p>
        </p:txBody>
      </p:sp>
      <p:sp>
        <p:nvSpPr>
          <p:cNvPr id="25" name="TextBox 24"/>
          <p:cNvSpPr txBox="1"/>
          <p:nvPr/>
        </p:nvSpPr>
        <p:spPr>
          <a:xfrm>
            <a:off x="8641080" y="3108960"/>
            <a:ext cx="3291840" cy="731520"/>
          </a:xfrm>
          <a:prstGeom prst="rect">
            <a:avLst/>
          </a:prstGeom>
          <a:noFill/>
        </p:spPr>
        <p:txBody>
          <a:bodyPr wrap="square">
            <a:spAutoFit/>
          </a:bodyPr>
          <a:lstStyle/>
          <a:p>
            <a:pPr algn="l"/>
            <a:r>
              <a:rPr sz="1150" b="0" i="0">
                <a:solidFill>
                  <a:srgbClr val="FFFFFF"/>
                </a:solidFill>
                <a:latin typeface="Calibri"/>
              </a:rPr>
              <a:t>Define assignment
profiles &amp; scopes</a:t>
            </a:r>
          </a:p>
        </p:txBody>
      </p:sp>
      <p:sp>
        <p:nvSpPr>
          <p:cNvPr id="26" name="TextBox 25"/>
          <p:cNvSpPr txBox="1"/>
          <p:nvPr/>
        </p:nvSpPr>
        <p:spPr>
          <a:xfrm>
            <a:off x="8229600" y="4114800"/>
            <a:ext cx="365760" cy="640080"/>
          </a:xfrm>
          <a:prstGeom prst="rect">
            <a:avLst/>
          </a:prstGeom>
          <a:noFill/>
        </p:spPr>
        <p:txBody>
          <a:bodyPr wrap="square">
            <a:spAutoFit/>
          </a:bodyPr>
          <a:lstStyle/>
          <a:p>
            <a:pPr algn="l"/>
            <a:r>
              <a:rPr sz="1400" b="1" i="0">
                <a:solidFill>
                  <a:srgbClr val="F2C100"/>
                </a:solidFill>
                <a:latin typeface="Calibri"/>
              </a:rPr>
              <a:t>✦</a:t>
            </a:r>
          </a:p>
        </p:txBody>
      </p:sp>
      <p:sp>
        <p:nvSpPr>
          <p:cNvPr id="27" name="TextBox 26"/>
          <p:cNvSpPr txBox="1"/>
          <p:nvPr/>
        </p:nvSpPr>
        <p:spPr>
          <a:xfrm>
            <a:off x="8641080" y="4114800"/>
            <a:ext cx="3291840" cy="731520"/>
          </a:xfrm>
          <a:prstGeom prst="rect">
            <a:avLst/>
          </a:prstGeom>
          <a:noFill/>
        </p:spPr>
        <p:txBody>
          <a:bodyPr wrap="square">
            <a:spAutoFit/>
          </a:bodyPr>
          <a:lstStyle/>
          <a:p>
            <a:pPr algn="l"/>
            <a:r>
              <a:rPr sz="1150" b="0" i="0">
                <a:solidFill>
                  <a:srgbClr val="FFFFFF"/>
                </a:solidFill>
                <a:latin typeface="Calibri"/>
              </a:rPr>
              <a:t>Pilot with 2–3
active expats</a:t>
            </a:r>
          </a:p>
        </p:txBody>
      </p:sp>
      <p:sp>
        <p:nvSpPr>
          <p:cNvPr id="28" name="TextBox 27"/>
          <p:cNvSpPr txBox="1"/>
          <p:nvPr/>
        </p:nvSpPr>
        <p:spPr>
          <a:xfrm>
            <a:off x="8229600" y="5120640"/>
            <a:ext cx="365760" cy="640080"/>
          </a:xfrm>
          <a:prstGeom prst="rect">
            <a:avLst/>
          </a:prstGeom>
          <a:noFill/>
        </p:spPr>
        <p:txBody>
          <a:bodyPr wrap="square">
            <a:spAutoFit/>
          </a:bodyPr>
          <a:lstStyle/>
          <a:p>
            <a:pPr algn="l"/>
            <a:r>
              <a:rPr sz="1400" b="1" i="0">
                <a:solidFill>
                  <a:srgbClr val="F2C100"/>
                </a:solidFill>
                <a:latin typeface="Calibri"/>
              </a:rPr>
              <a:t>✦</a:t>
            </a:r>
          </a:p>
        </p:txBody>
      </p:sp>
      <p:sp>
        <p:nvSpPr>
          <p:cNvPr id="29" name="TextBox 28"/>
          <p:cNvSpPr txBox="1"/>
          <p:nvPr/>
        </p:nvSpPr>
        <p:spPr>
          <a:xfrm>
            <a:off x="8641080" y="5120640"/>
            <a:ext cx="3291840" cy="731520"/>
          </a:xfrm>
          <a:prstGeom prst="rect">
            <a:avLst/>
          </a:prstGeom>
          <a:noFill/>
        </p:spPr>
        <p:txBody>
          <a:bodyPr wrap="square">
            <a:spAutoFit/>
          </a:bodyPr>
          <a:lstStyle/>
          <a:p>
            <a:pPr algn="l"/>
            <a:r>
              <a:rPr sz="1150" b="0" i="0">
                <a:solidFill>
                  <a:srgbClr val="FFFFFF"/>
                </a:solidFill>
                <a:latin typeface="Calibri"/>
              </a:rPr>
              <a:t>Full rollout &amp;
HR admin dashboard</a:t>
            </a:r>
          </a:p>
        </p:txBody>
      </p:sp>
      <p:sp>
        <p:nvSpPr>
          <p:cNvPr id="30" name="Rectangle 29"/>
          <p:cNvSpPr/>
          <p:nvPr/>
        </p:nvSpPr>
        <p:spPr>
          <a:xfrm>
            <a:off x="8229600" y="6035040"/>
            <a:ext cx="3749039" cy="548640"/>
          </a:xfrm>
          <a:prstGeom prst="rect">
            <a:avLst/>
          </a:prstGeom>
          <a:solidFill>
            <a:srgbClr val="F2C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0" y="6035040"/>
            <a:ext cx="3749039" cy="548640"/>
          </a:xfrm>
          <a:prstGeom prst="rect">
            <a:avLst/>
          </a:prstGeom>
          <a:noFill/>
        </p:spPr>
        <p:txBody>
          <a:bodyPr wrap="square">
            <a:spAutoFit/>
          </a:bodyPr>
          <a:lstStyle/>
          <a:p>
            <a:pPr algn="ctr"/>
            <a:r>
              <a:rPr sz="1300" b="1" i="0">
                <a:solidFill>
                  <a:srgbClr val="1A3A4A"/>
                </a:solidFill>
                <a:latin typeface="Calibri"/>
              </a:rPr>
              <a:t>Request a Live Demo  →</a:t>
            </a:r>
          </a:p>
        </p:txBody>
      </p:sp>
      <p:sp>
        <p:nvSpPr>
          <p:cNvPr id="32" name="Rectangle 31"/>
          <p:cNvSpPr/>
          <p:nvPr/>
        </p:nvSpPr>
        <p:spPr>
          <a:xfrm>
            <a:off x="0" y="6537960"/>
            <a:ext cx="7955279" cy="320040"/>
          </a:xfrm>
          <a:prstGeom prst="rect">
            <a:avLst/>
          </a:prstGeom>
          <a:solidFill>
            <a:srgbClr val="122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0040" y="6565392"/>
            <a:ext cx="7315200" cy="256032"/>
          </a:xfrm>
          <a:prstGeom prst="rect">
            <a:avLst/>
          </a:prstGeom>
          <a:noFill/>
        </p:spPr>
        <p:txBody>
          <a:bodyPr wrap="square">
            <a:spAutoFit/>
          </a:bodyPr>
          <a:lstStyle/>
          <a:p>
            <a:pPr algn="l"/>
            <a:r>
              <a:rPr sz="900" b="0" i="0">
                <a:solidFill>
                  <a:srgbClr val="88A8B8"/>
                </a:solidFill>
                <a:latin typeface="Calibri"/>
              </a:rPr>
              <a:t>Expat Concierge V2.4  ·  Confidential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